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2743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2D"/>
                </a:solidFill>
              </a:rPr>
              <a:t>DISEÑO DE SISTEMAS EMBEBIDOS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Agro-LoRa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Nodo de Monitoreo Agrícola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Bajo Consumo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4114800" cy="3657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564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Kendall Madrigal · Alexandra Alfaro · Francela Arias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Escuela de Ingeniería Electrónica — ITCR, Cartago, Costa Rica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LoRa  •  ESP32  •  IoT Agrícola  •  Bajo Consumo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Contexto del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618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</a:rPr>
              <a:t>El Desafío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finca de gran extensión necesita monitorear variables de suelo y microclima en zonas sin cobertura celular ni Wi-Fi.</a:t>
            </a:r>
            <a:endParaRPr lang="en-US" sz="1250" dirty="0"/>
          </a:p>
          <a:p>
            <a:pPr indent="0" marL="0">
              <a:buNone/>
            </a:pPr>
            <a:r>
              <a:rPr lang="en-US" sz="8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gateway central se ubica a ~2 km de distancia y los nodos operan con baterías pequeñas, exigiendo un diseño de ultra-bajo consumo.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109728" cy="10515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43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77840" y="1188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Variables a medir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77840" y="1508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2D"/>
                </a:solidFill>
              </a:rPr>
              <a:t>Humedad del suelo, temperatura, humedad ambiental y nivel de batería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286000"/>
            <a:ext cx="109728" cy="10515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31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77840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Enlace inalámbrico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2697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2D"/>
                </a:solidFill>
              </a:rPr>
              <a:t>Tecnología LoRa hasta 2 km, sin infraestructura celular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47472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474720"/>
            <a:ext cx="109728" cy="10515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520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7784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Restricción energética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3886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2D"/>
                </a:solidFill>
              </a:rPr>
              <a:t>≥95% del tiempo en modo Deep Sleep para maximizar autonomía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0E8"/>
                </a:solidFill>
              </a:rPr>
              <a:t>Agro-LoRa  |  ITCR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Requerimientos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834640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📥  Entradas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801368"/>
            <a:ext cx="201168" cy="20116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5564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humedad suelo (ADC analógico)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761488"/>
            <a:ext cx="201168" cy="20116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1576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temp./humedad ambiental (I2C)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3721608"/>
            <a:ext cx="201168" cy="20116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7588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nivel de batería (divisor de tensión)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27832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051560"/>
            <a:ext cx="2834640" cy="53035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0515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📤  Salidas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92424" y="1801368"/>
            <a:ext cx="201168" cy="201168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5032" y="175564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Transceptor LoRa (SPI) → gateway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92424" y="2761488"/>
            <a:ext cx="201168" cy="201168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85032" y="271576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indicador de estado de transmisión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92424" y="3721608"/>
            <a:ext cx="201168" cy="201168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5032" y="367588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SENSOR_EN → MOSFET de sensores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81344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81344" y="1051560"/>
            <a:ext cx="2834640" cy="530352"/>
          </a:xfrm>
          <a:prstGeom prst="rect">
            <a:avLst/>
          </a:prstGeom>
          <a:solidFill>
            <a:srgbClr val="C4962A"/>
          </a:solidFill>
          <a:ln w="12700">
            <a:solidFill>
              <a:srgbClr val="C496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10515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 Restricciones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45936" y="1801368"/>
            <a:ext cx="201168" cy="201168"/>
          </a:xfrm>
          <a:prstGeom prst="ellipse">
            <a:avLst/>
          </a:prstGeom>
          <a:solidFill>
            <a:srgbClr val="C4962A"/>
          </a:solidFill>
          <a:ln w="12700">
            <a:solidFill>
              <a:srgbClr val="C496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8544" y="175564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LoRa según normativa nacional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45936" y="2761488"/>
            <a:ext cx="201168" cy="201168"/>
          </a:xfrm>
          <a:prstGeom prst="ellipse">
            <a:avLst/>
          </a:prstGeom>
          <a:solidFill>
            <a:srgbClr val="C4962A"/>
          </a:solidFill>
          <a:ln w="12700">
            <a:solidFill>
              <a:srgbClr val="C496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38544" y="271576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 del tiempo en Deep Sleep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45936" y="3721608"/>
            <a:ext cx="201168" cy="201168"/>
          </a:xfrm>
          <a:prstGeom prst="ellipse">
            <a:avLst/>
          </a:prstGeom>
          <a:solidFill>
            <a:srgbClr val="C4962A"/>
          </a:solidFill>
          <a:ln w="12700">
            <a:solidFill>
              <a:srgbClr val="C496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367588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~2 km hasta gateway central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0E8"/>
                </a:solidFill>
              </a:rPr>
              <a:t>Agro-LoRa  |  ITCR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Arquitectura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Nivel 1 – Vista General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2D"/>
                </a:solidFill>
              </a:rPr>
              <a:t>Humedad suelo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984248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842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2D"/>
                </a:solidFill>
              </a:rPr>
              <a:t>Temperatura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551176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5511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2D"/>
                </a:solidFill>
              </a:rPr>
              <a:t>Humedad ambiental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84832" y="1645920"/>
            <a:ext cx="457200" cy="0"/>
          </a:xfrm>
          <a:prstGeom prst="line">
            <a:avLst/>
          </a:prstGeom>
          <a:noFill/>
          <a:ln w="19050">
            <a:solidFill>
              <a:srgbClr val="4A7C59"/>
            </a:solidFill>
            <a:prstDash val="solid"/>
            <a:tailEnd type="open"/>
          </a:ln>
        </p:spPr>
      </p:sp>
      <p:sp>
        <p:nvSpPr>
          <p:cNvPr id="13" name="Shape 11"/>
          <p:cNvSpPr/>
          <p:nvPr/>
        </p:nvSpPr>
        <p:spPr>
          <a:xfrm>
            <a:off x="2084832" y="2212848"/>
            <a:ext cx="457200" cy="0"/>
          </a:xfrm>
          <a:prstGeom prst="line">
            <a:avLst/>
          </a:prstGeom>
          <a:noFill/>
          <a:ln w="19050">
            <a:solidFill>
              <a:srgbClr val="4A7C59"/>
            </a:solidFill>
            <a:prstDash val="solid"/>
            <a:tailEnd type="open"/>
          </a:ln>
        </p:spPr>
      </p:sp>
      <p:sp>
        <p:nvSpPr>
          <p:cNvPr id="14" name="Shape 12"/>
          <p:cNvSpPr/>
          <p:nvPr/>
        </p:nvSpPr>
        <p:spPr>
          <a:xfrm>
            <a:off x="2084832" y="2779776"/>
            <a:ext cx="457200" cy="0"/>
          </a:xfrm>
          <a:prstGeom prst="line">
            <a:avLst/>
          </a:prstGeom>
          <a:noFill/>
          <a:ln w="19050">
            <a:solidFill>
              <a:srgbClr val="4A7C59"/>
            </a:solidFill>
            <a:prstDash val="solid"/>
            <a:tailEnd type="open"/>
          </a:ln>
        </p:spPr>
      </p:sp>
      <p:sp>
        <p:nvSpPr>
          <p:cNvPr id="15" name="Shape 13"/>
          <p:cNvSpPr/>
          <p:nvPr/>
        </p:nvSpPr>
        <p:spPr>
          <a:xfrm>
            <a:off x="2578608" y="173736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1737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Nodo Sensor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Agro-LoRa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51960" y="2194560"/>
            <a:ext cx="5029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open"/>
          </a:ln>
        </p:spPr>
      </p:sp>
      <p:sp>
        <p:nvSpPr>
          <p:cNvPr id="18" name="Text 16"/>
          <p:cNvSpPr/>
          <p:nvPr/>
        </p:nvSpPr>
        <p:spPr>
          <a:xfrm>
            <a:off x="4297680" y="1920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C59"/>
                </a:solidFill>
              </a:rPr>
              <a:t>LoRa RF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17830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C4962A"/>
          </a:solidFill>
          <a:ln w="12700">
            <a:solidFill>
              <a:srgbClr val="C496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Gateway Central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(~2 km)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3017520"/>
            <a:ext cx="8778240" cy="36576"/>
          </a:xfrm>
          <a:prstGeom prst="rect">
            <a:avLst/>
          </a:prstGeom>
          <a:solidFill>
            <a:srgbClr val="C8D8C0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2724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Nivel 2 – Bloques Funcionales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4787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47872"/>
            <a:ext cx="2560320" cy="384048"/>
          </a:xfrm>
          <a:prstGeom prst="rect">
            <a:avLst/>
          </a:prstGeom>
          <a:solidFill>
            <a:srgbClr val="C4962A"/>
          </a:solidFill>
          <a:ln w="12700">
            <a:solidFill>
              <a:srgbClr val="C496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54787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Gestión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Energía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96849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A2D"/>
                </a:solidFill>
              </a:rPr>
              <a:t>Voltaje · MOSFET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A2D"/>
                </a:solidFill>
              </a:rPr>
              <a:t>Deep Sleep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35808" y="4160520"/>
            <a:ext cx="256032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open"/>
          </a:ln>
        </p:spPr>
      </p:sp>
      <p:sp>
        <p:nvSpPr>
          <p:cNvPr id="28" name="Shape 26"/>
          <p:cNvSpPr/>
          <p:nvPr/>
        </p:nvSpPr>
        <p:spPr>
          <a:xfrm>
            <a:off x="3291840" y="354787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3547872"/>
            <a:ext cx="256032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354787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Adquisición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 Datos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396849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A2D"/>
                </a:solidFill>
              </a:rPr>
              <a:t>ADC · I2C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A2D"/>
                </a:solidFill>
              </a:rPr>
              <a:t>Humedad · Temp · Bat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70448" y="4160520"/>
            <a:ext cx="256032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open"/>
          </a:ln>
        </p:spPr>
      </p:sp>
      <p:sp>
        <p:nvSpPr>
          <p:cNvPr id="33" name="Shape 31"/>
          <p:cNvSpPr/>
          <p:nvPr/>
        </p:nvSpPr>
        <p:spPr>
          <a:xfrm>
            <a:off x="6126480" y="354787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3547872"/>
            <a:ext cx="2560320" cy="38404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354787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Radiofrecuencia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LoRa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396849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A2D"/>
                </a:solidFill>
              </a:rPr>
              <a:t>SPI · RFM95W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A2D"/>
                </a:solidFill>
              </a:rPr>
              <a:t>Enlace 2 km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0E8"/>
                </a:solidFill>
              </a:rPr>
              <a:t>Agro-LoRa  |  ITCR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Máquina de Estados Finitos (FSM)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1600200" cy="960120"/>
          </a:xfrm>
          <a:prstGeom prst="ellipse">
            <a:avLst/>
          </a:prstGeom>
          <a:solidFill>
            <a:srgbClr val="C4962A"/>
          </a:solidFill>
          <a:ln w="12700">
            <a:solidFill>
              <a:srgbClr val="C496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SLEEP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Reposo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48840" y="1280160"/>
            <a:ext cx="1600200" cy="9601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SENSING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Adquisición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0" y="1280160"/>
            <a:ext cx="1600200" cy="96012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TX_DATA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Envío LoRa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15000" y="1280160"/>
            <a:ext cx="1600200" cy="9601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1500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WAIT_ACK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Espera ACK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15000" y="3108960"/>
            <a:ext cx="1600200" cy="9601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15000" y="31089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ERROR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RETRY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65960" y="1755648"/>
            <a:ext cx="182880" cy="0"/>
          </a:xfrm>
          <a:prstGeom prst="line">
            <a:avLst/>
          </a:prstGeom>
          <a:noFill/>
          <a:ln w="19050">
            <a:solidFill>
              <a:srgbClr val="1B3A2D"/>
            </a:solidFill>
            <a:prstDash val="solid"/>
            <a:tailEnd type="open"/>
          </a:ln>
        </p:spPr>
      </p:sp>
      <p:sp>
        <p:nvSpPr>
          <p:cNvPr id="16" name="Text 14"/>
          <p:cNvSpPr/>
          <p:nvPr/>
        </p:nvSpPr>
        <p:spPr>
          <a:xfrm>
            <a:off x="1691640" y="14081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6E"/>
                </a:solidFill>
              </a:rPr>
              <a:t>Timer expira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49040" y="1755648"/>
            <a:ext cx="182880" cy="0"/>
          </a:xfrm>
          <a:prstGeom prst="line">
            <a:avLst/>
          </a:prstGeom>
          <a:noFill/>
          <a:ln w="19050">
            <a:solidFill>
              <a:srgbClr val="1B3A2D"/>
            </a:solidFill>
            <a:prstDash val="solid"/>
            <a:tailEnd type="open"/>
          </a:ln>
        </p:spPr>
      </p:sp>
      <p:sp>
        <p:nvSpPr>
          <p:cNvPr id="18" name="Text 16"/>
          <p:cNvSpPr/>
          <p:nvPr/>
        </p:nvSpPr>
        <p:spPr>
          <a:xfrm>
            <a:off x="3474720" y="14081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6E"/>
                </a:solidFill>
              </a:rPr>
              <a:t>Lecturas OK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32120" y="1755648"/>
            <a:ext cx="182880" cy="0"/>
          </a:xfrm>
          <a:prstGeom prst="line">
            <a:avLst/>
          </a:prstGeom>
          <a:noFill/>
          <a:ln w="19050">
            <a:solidFill>
              <a:srgbClr val="1B3A2D"/>
            </a:solidFill>
            <a:prstDash val="solid"/>
            <a:tailEnd type="open"/>
          </a:ln>
        </p:spPr>
      </p:sp>
      <p:sp>
        <p:nvSpPr>
          <p:cNvPr id="20" name="Text 18"/>
          <p:cNvSpPr/>
          <p:nvPr/>
        </p:nvSpPr>
        <p:spPr>
          <a:xfrm>
            <a:off x="5257800" y="14081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6E"/>
                </a:solidFill>
              </a:rPr>
              <a:t>TX completa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19672" y="1280160"/>
            <a:ext cx="0" cy="-27432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1005840"/>
            <a:ext cx="5330952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" y="1005840"/>
            <a:ext cx="0" cy="27432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open"/>
          </a:ln>
        </p:spPr>
      </p:sp>
      <p:sp>
        <p:nvSpPr>
          <p:cNvPr id="24" name="Text 22"/>
          <p:cNvSpPr/>
          <p:nvPr/>
        </p:nvSpPr>
        <p:spPr>
          <a:xfrm>
            <a:off x="2286000" y="594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ACK recibido → SLEEP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19672" y="2240280"/>
            <a:ext cx="0" cy="86868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open"/>
          </a:ln>
        </p:spPr>
      </p:sp>
      <p:sp>
        <p:nvSpPr>
          <p:cNvPr id="26" name="Text 24"/>
          <p:cNvSpPr/>
          <p:nvPr/>
        </p:nvSpPr>
        <p:spPr>
          <a:xfrm>
            <a:off x="667512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042"/>
                </a:solidFill>
              </a:rPr>
              <a:t>Timeout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3584448"/>
            <a:ext cx="-1115568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99432" y="3584448"/>
            <a:ext cx="0" cy="-1344168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open"/>
          </a:ln>
        </p:spPr>
      </p:sp>
      <p:sp>
        <p:nvSpPr>
          <p:cNvPr id="29" name="Text 27"/>
          <p:cNvSpPr/>
          <p:nvPr/>
        </p:nvSpPr>
        <p:spPr>
          <a:xfrm>
            <a:off x="365760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042"/>
                </a:solidFill>
              </a:rPr>
              <a:t>Reintentos disponibles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715000" y="4023360"/>
            <a:ext cx="-4590288" cy="0"/>
          </a:xfrm>
          <a:prstGeom prst="line">
            <a:avLst/>
          </a:prstGeom>
          <a:noFill/>
          <a:ln w="16510">
            <a:solidFill>
              <a:srgbClr val="6B7B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24712" y="4023360"/>
            <a:ext cx="0" cy="-1828800"/>
          </a:xfrm>
          <a:prstGeom prst="line">
            <a:avLst/>
          </a:prstGeom>
          <a:noFill/>
          <a:ln w="16510">
            <a:solidFill>
              <a:srgbClr val="6B7B6E"/>
            </a:solidFill>
            <a:prstDash val="solid"/>
            <a:tailEnd type="open"/>
          </a:ln>
        </p:spPr>
      </p:sp>
      <p:sp>
        <p:nvSpPr>
          <p:cNvPr id="32" name="Text 30"/>
          <p:cNvSpPr/>
          <p:nvPr/>
        </p:nvSpPr>
        <p:spPr>
          <a:xfrm>
            <a:off x="128016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6E"/>
                </a:solidFill>
              </a:rPr>
              <a:t>Máx. reintentos → SLEEP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48840" y="1755648"/>
            <a:ext cx="-182880" cy="777240"/>
          </a:xfrm>
          <a:prstGeom prst="line">
            <a:avLst/>
          </a:prstGeom>
          <a:noFill/>
          <a:ln w="15240">
            <a:solidFill>
              <a:srgbClr val="6B7B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65960" y="2532888"/>
            <a:ext cx="-640080" cy="0"/>
          </a:xfrm>
          <a:prstGeom prst="line">
            <a:avLst/>
          </a:prstGeom>
          <a:noFill/>
          <a:ln w="15240">
            <a:solidFill>
              <a:srgbClr val="6B7B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25880" y="2532888"/>
            <a:ext cx="0" cy="-749808"/>
          </a:xfrm>
          <a:prstGeom prst="line">
            <a:avLst/>
          </a:prstGeom>
          <a:noFill/>
          <a:ln w="15240">
            <a:solidFill>
              <a:srgbClr val="6B7B6E"/>
            </a:solidFill>
            <a:prstDash val="solid"/>
            <a:tailEnd type="open"/>
          </a:ln>
        </p:spPr>
      </p:sp>
      <p:sp>
        <p:nvSpPr>
          <p:cNvPr id="36" name="Text 34"/>
          <p:cNvSpPr/>
          <p:nvPr/>
        </p:nvSpPr>
        <p:spPr>
          <a:xfrm>
            <a:off x="137160" y="2331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6E"/>
                </a:solidFill>
              </a:rPr>
              <a:t>Falla lectura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B6E"/>
                </a:solidFill>
              </a:rPr>
              <a:t>→ SLEEP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0E8"/>
                </a:solidFill>
              </a:rPr>
              <a:t>Agro-LoRa  |  ITCR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Diseño Preliminar de Hardware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Componentes Principales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17320"/>
          <a:ext cx="4114800" cy="329184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Función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2D"/>
                          </a:solidFill>
                        </a:rPr>
                        <a:t>ESP32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2D"/>
                          </a:solidFill>
                        </a:rPr>
                        <a:t>Microcontrolador central (SPI, I2C, ADC)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2D"/>
                          </a:solidFill>
                        </a:rPr>
                        <a:t>RFM95W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2D"/>
                          </a:solidFill>
                        </a:rPr>
                        <a:t>Transceptor LoRa 915 MHz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2D"/>
                          </a:solidFill>
                        </a:rPr>
                        <a:t>Sensor analóg.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2D"/>
                          </a:solidFill>
                        </a:rPr>
                        <a:t>Humedad del suelo (ADC)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2D"/>
                          </a:solidFill>
                        </a:rPr>
                        <a:t>DHT/SHT (I2C)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2D"/>
                          </a:solidFill>
                        </a:rPr>
                        <a:t>Temperatura y humedad ambiental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2D"/>
                          </a:solidFill>
                        </a:rPr>
                        <a:t>MOSFET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2D"/>
                          </a:solidFill>
                        </a:rPr>
                        <a:t>Conmutación sensores (SENSOR_EN)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2D"/>
                          </a:solidFill>
                        </a:rPr>
                        <a:t>LED GPIO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2D"/>
                          </a:solidFill>
                        </a:rPr>
                        <a:t>Indicador visual de estado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Asignación de Pines (ESP32)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114800" cy="3639312"/>
        </p:xfrm>
        <a:graphic>
          <a:graphicData uri="http://schemas.openxmlformats.org/drawingml/2006/table">
            <a:tbl>
              <a:tblPr/>
              <a:tblGrid>
                <a:gridCol w="1325880"/>
                <a:gridCol w="2788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Pin ESP32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Función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GPIO34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ADC Humedad suelo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GPIO35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ADC Nivel batería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GPIO21/22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SDA/SCL (I2C)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GPIO23/19/18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MOSI/MISO/SCK (SPI)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GPIO25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CS LoRa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GPIO14/26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RST / DIO0 LoRa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GPIO27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SENSOR_EN (MOSFET)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GPIO33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2D"/>
                          </a:solidFill>
                        </a:rPr>
                        <a:t>LED estado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0E8"/>
                </a:solidFill>
              </a:rPr>
              <a:t>Agro-LoRa  |  ITCR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Eficiencia Energética y Configuración LoRa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457200"/>
          </a:xfrm>
          <a:prstGeom prst="rect">
            <a:avLst/>
          </a:prstGeom>
          <a:solidFill>
            <a:srgbClr val="C4962A"/>
          </a:solidFill>
          <a:ln w="12700">
            <a:solidFill>
              <a:srgbClr val="C496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Estrategia Power Gating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73352"/>
            <a:ext cx="256032" cy="256032"/>
          </a:xfrm>
          <a:prstGeom prst="rect">
            <a:avLst/>
          </a:prstGeom>
          <a:solidFill>
            <a:srgbClr val="C4962A"/>
          </a:solidFill>
          <a:ln w="12700">
            <a:solidFill>
              <a:srgbClr val="C49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</a:rPr>
              <a:t>MOSFET controlado por señal SENSOR_EN del ESP32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249424"/>
            <a:ext cx="256032" cy="256032"/>
          </a:xfrm>
          <a:prstGeom prst="rect">
            <a:avLst/>
          </a:prstGeom>
          <a:solidFill>
            <a:srgbClr val="C4962A"/>
          </a:solidFill>
          <a:ln w="12700">
            <a:solidFill>
              <a:srgbClr val="C496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219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</a:rPr>
              <a:t>Sensores completamente desconectados en reposo → sin corrientes de fuga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25496"/>
            <a:ext cx="256032" cy="256032"/>
          </a:xfrm>
          <a:prstGeom prst="rect">
            <a:avLst/>
          </a:prstGeom>
          <a:solidFill>
            <a:srgbClr val="C4962A"/>
          </a:solidFill>
          <a:ln w="12700">
            <a:solidFill>
              <a:srgbClr val="C496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980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</a:rPr>
              <a:t>Activación solo durante la ventana de medición (~3 s por ciclo)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401568"/>
            <a:ext cx="256032" cy="256032"/>
          </a:xfrm>
          <a:prstGeom prst="rect">
            <a:avLst/>
          </a:prstGeom>
          <a:solidFill>
            <a:srgbClr val="C4962A"/>
          </a:solidFill>
          <a:ln w="12700">
            <a:solidFill>
              <a:srgbClr val="C496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3741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</a:rPr>
              <a:t>Compatible con 3.3 V en todo el sistema (sin level-shifters)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256032" cy="256032"/>
          </a:xfrm>
          <a:prstGeom prst="rect">
            <a:avLst/>
          </a:prstGeom>
          <a:solidFill>
            <a:srgbClr val="C4962A"/>
          </a:solidFill>
          <a:ln w="12700">
            <a:solidFill>
              <a:srgbClr val="C496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9502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</a:rPr>
              <a:t>Cumple restricción: ≥ 95% del tiempo en Deep Sleep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51560"/>
            <a:ext cx="411480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📡  Parámetros LoRa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581912"/>
            <a:ext cx="2286000" cy="320040"/>
          </a:xfrm>
          <a:prstGeom prst="rect">
            <a:avLst/>
          </a:prstGeom>
          <a:solidFill>
            <a:srgbClr val="EFF5E8"/>
          </a:solidFill>
          <a:ln w="12700">
            <a:solidFill>
              <a:srgbClr val="D0D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0608" y="1581912"/>
            <a:ext cx="155448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58191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2D"/>
                </a:solidFill>
              </a:rPr>
              <a:t>Frecuencia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50608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915 MHz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1929384"/>
            <a:ext cx="2286000" cy="320040"/>
          </a:xfrm>
          <a:prstGeom prst="rect">
            <a:avLst/>
          </a:prstGeom>
          <a:solidFill>
            <a:srgbClr val="EFF5E8"/>
          </a:solidFill>
          <a:ln w="12700">
            <a:solidFill>
              <a:srgbClr val="D0D8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50608" y="1929384"/>
            <a:ext cx="155448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929384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2D"/>
                </a:solidFill>
              </a:rPr>
              <a:t>Spreading Factor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50608" y="19293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SF10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2276856"/>
            <a:ext cx="2286000" cy="320040"/>
          </a:xfrm>
          <a:prstGeom prst="rect">
            <a:avLst/>
          </a:prstGeom>
          <a:solidFill>
            <a:srgbClr val="EFF5E8"/>
          </a:solidFill>
          <a:ln w="12700">
            <a:solidFill>
              <a:srgbClr val="D0D8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0608" y="2276856"/>
            <a:ext cx="155448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27685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2D"/>
                </a:solidFill>
              </a:rPr>
              <a:t>Bandwidth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50608" y="22768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125 kHz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2624328"/>
            <a:ext cx="2286000" cy="320040"/>
          </a:xfrm>
          <a:prstGeom prst="rect">
            <a:avLst/>
          </a:prstGeom>
          <a:solidFill>
            <a:srgbClr val="EFF5E8"/>
          </a:solidFill>
          <a:ln w="12700">
            <a:solidFill>
              <a:srgbClr val="D0D8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50608" y="2624328"/>
            <a:ext cx="155448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262432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2D"/>
                </a:solidFill>
              </a:rPr>
              <a:t>Coding Rate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150608" y="26243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4/5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2971800"/>
            <a:ext cx="2286000" cy="320040"/>
          </a:xfrm>
          <a:prstGeom prst="rect">
            <a:avLst/>
          </a:prstGeom>
          <a:solidFill>
            <a:srgbClr val="EFF5E8"/>
          </a:solidFill>
          <a:ln w="12700">
            <a:solidFill>
              <a:srgbClr val="D0D8C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50608" y="2971800"/>
            <a:ext cx="155448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29718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2D"/>
                </a:solidFill>
              </a:rPr>
              <a:t>Potencia TX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150608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17 dBm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35204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520440"/>
            <a:ext cx="4114800" cy="4114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520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🔋  Consumo estimado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46320" y="39867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3A2D"/>
                </a:solidFill>
              </a:rPr>
              <a:t>Deep Sleep: 20 µA  |  Activo: 15 mA  |  TX LoRa: 120 mA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46320" y="43159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</a:rPr>
              <a:t>Iprom ≈ 0.495 mA  →  Autonomía ≈ 168 días (batería 2000 mAh)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0E8"/>
                </a:solidFill>
              </a:rPr>
              <a:t>Agro-LoRa  |  ITCR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6576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51560" y="1298448"/>
            <a:ext cx="54406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2984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8"/>
                </a:solidFill>
              </a:rPr>
              <a:t>Diseño viable para monitoreo agrícola distribuido con LoRa + ESP32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7510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51560" y="1975104"/>
            <a:ext cx="54406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97510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8"/>
                </a:solidFill>
              </a:rPr>
              <a:t>SF10 + 17 dBm garantizan enlace robusto a ~2 km sin infraestructura celular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51560" y="2651760"/>
            <a:ext cx="54406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6517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8"/>
                </a:solidFill>
              </a:rPr>
              <a:t>Power gating + Deep Sleep logran Iprom ≈ 0.495 mA → ~168 días de autonomía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2841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51560" y="3328416"/>
            <a:ext cx="54406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32841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8"/>
                </a:solidFill>
              </a:rPr>
              <a:t>FSM de 5 estados organiza la lógica de reintentos y evita consumo innecesario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51560" y="4005072"/>
            <a:ext cx="54406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0050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8"/>
                </a:solidFill>
              </a:rPr>
              <a:t>Arquitectura escalable, de bajo costo y adaptable a otros cultivos y sensores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Agro-LoRa  |  Escuela de Ingeniería Electrónica — ITCR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Agro-LoRa: Nodo de Monitoreo Agrícola de Bajo Consumo</dc:title>
  <dc:subject>PptxGenJS Presentation</dc:subject>
  <dc:creator>PptxGenJS</dc:creator>
  <cp:lastModifiedBy>PptxGenJS</cp:lastModifiedBy>
  <cp:revision>1</cp:revision>
  <dcterms:created xsi:type="dcterms:W3CDTF">2026-04-09T16:36:12Z</dcterms:created>
  <dcterms:modified xsi:type="dcterms:W3CDTF">2026-04-09T16:36:12Z</dcterms:modified>
</cp:coreProperties>
</file>