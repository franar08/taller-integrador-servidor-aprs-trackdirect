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46D40A-4359-47FC-A521-3B06FE5C306C}">
  <a:tblStyle styleId="{E846D40A-4359-47FC-A521-3B06FE5C306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2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772400" y="0"/>
            <a:ext cx="1371600" cy="2743200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640080"/>
            <a:ext cx="2286000" cy="347472"/>
          </a:xfrm>
          <a:prstGeom prst="roundRect">
            <a:avLst>
              <a:gd fmla="val 13158" name="adj"/>
            </a:avLst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64008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DISEÑO DE SISTEMAS EMBEBIDOS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118872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Agro-LoRa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2194560"/>
            <a:ext cx="6858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Nodo de Monitoreo Agrícola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de Bajo Consumo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3291840"/>
            <a:ext cx="4114800" cy="36576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200" y="345643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Kendall Madrigal · Alexandra Alfaro · Francela Arias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57200" y="3794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B6E"/>
                </a:solidFill>
                <a:latin typeface="Calibri"/>
                <a:ea typeface="Calibri"/>
                <a:cs typeface="Calibri"/>
                <a:sym typeface="Calibri"/>
              </a:rPr>
              <a:t>Escuela de Ingeniería Electrónica — ITCR, Cartago, Costa Rica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LoRa  •  ESP32  •  IoT Agrícola  •  Bajo Consumo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E8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cap="flat" cmpd="sng" w="12700">
            <a:solidFill>
              <a:srgbClr val="1B3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Contexto del Problema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20040" y="1097280"/>
            <a:ext cx="411480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8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02920" y="126187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El Desafío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02920" y="1737360"/>
            <a:ext cx="37490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Una finca de gran extensión necesita monitorear variables de suelo y microclima en zonas sin cobertura celular ni Wi-Fi.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800"/>
              <a:buFont typeface="Calibri"/>
              <a:buNone/>
            </a:pPr>
            <a:br>
              <a:rPr b="0" i="0" lang="en-US" sz="80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El gateway central se ubica a ~2 km de distancia y los nodos operan con baterías pequeñas, exigiendo un diseño de ultra-bajo consumo.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754880" y="1097280"/>
            <a:ext cx="406908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754880" y="1097280"/>
            <a:ext cx="109728" cy="1051560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892040" y="11430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🌱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577840" y="11887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Variables a medir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577840" y="150876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Humedad del suelo, temperatura, humedad ambiental y nivel de batería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754880" y="2286000"/>
            <a:ext cx="406908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754880" y="2286000"/>
            <a:ext cx="109728" cy="1051560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892040" y="233172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577840" y="23774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Enlace inalámbrico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577840" y="26974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Tecnología LoRa hasta 2 km, sin infraestructura celular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754880" y="3474720"/>
            <a:ext cx="406908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754880" y="3474720"/>
            <a:ext cx="109728" cy="1051560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892040" y="35204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577840" y="35661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Restricción energética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577840" y="388620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≥95% del tiempo en modo Deep Sleep para maximizar autonomía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2F0E8"/>
                </a:solidFill>
                <a:latin typeface="Calibri"/>
                <a:ea typeface="Calibri"/>
                <a:cs typeface="Calibri"/>
                <a:sym typeface="Calibri"/>
              </a:rPr>
              <a:t>Agro-LoRa  |  ITCR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E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cap="flat" cmpd="sng" w="12700">
            <a:solidFill>
              <a:srgbClr val="1B3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Requerimientos del Sistema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274320" y="1051560"/>
            <a:ext cx="283464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0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274320" y="1051560"/>
            <a:ext cx="2834640" cy="5303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65760" y="1051560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📥  Entradas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38912" y="1801368"/>
            <a:ext cx="201168" cy="201168"/>
          </a:xfrm>
          <a:prstGeom prst="ellipse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31520" y="1755648"/>
            <a:ext cx="2286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Sensor humedad suelo (ADC analógico)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38912" y="2761488"/>
            <a:ext cx="201168" cy="201168"/>
          </a:xfrm>
          <a:prstGeom prst="ellipse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731520" y="2715768"/>
            <a:ext cx="2286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Sensor temp./humedad ambiental (I2C)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38912" y="3721608"/>
            <a:ext cx="201168" cy="201168"/>
          </a:xfrm>
          <a:prstGeom prst="ellipse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731520" y="3675888"/>
            <a:ext cx="2286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Monitoreo nivel de batería (divisor de tensión)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227832" y="1051560"/>
            <a:ext cx="283464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0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3227832" y="1051560"/>
            <a:ext cx="2834640" cy="530352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319272" y="1051560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📤  Salidas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392424" y="1801368"/>
            <a:ext cx="201168" cy="201168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685032" y="1755648"/>
            <a:ext cx="2286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Transceptor LoRa (SPI) → gateway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392424" y="2761488"/>
            <a:ext cx="201168" cy="201168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3685032" y="2715768"/>
            <a:ext cx="2286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LED indicador de estado de transmisión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392424" y="3721608"/>
            <a:ext cx="201168" cy="201168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3685032" y="3675888"/>
            <a:ext cx="2286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Pin SENSOR_EN → MOSFET de sensores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181344" y="1051560"/>
            <a:ext cx="283464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0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181344" y="1051560"/>
            <a:ext cx="2834640" cy="530352"/>
          </a:xfrm>
          <a:prstGeom prst="rect">
            <a:avLst/>
          </a:prstGeom>
          <a:solidFill>
            <a:srgbClr val="C4962A"/>
          </a:solidFill>
          <a:ln cap="flat" cmpd="sng" w="12700">
            <a:solidFill>
              <a:srgbClr val="C49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272784" y="1051560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  Restricciones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345936" y="1801368"/>
            <a:ext cx="201168" cy="201168"/>
          </a:xfrm>
          <a:prstGeom prst="ellipse">
            <a:avLst/>
          </a:prstGeom>
          <a:solidFill>
            <a:srgbClr val="C4962A"/>
          </a:solidFill>
          <a:ln cap="flat" cmpd="sng" w="12700">
            <a:solidFill>
              <a:srgbClr val="C49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638544" y="1755648"/>
            <a:ext cx="2286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Frecuencia LoRa según normativa nacional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345936" y="2761488"/>
            <a:ext cx="201168" cy="201168"/>
          </a:xfrm>
          <a:prstGeom prst="ellipse">
            <a:avLst/>
          </a:prstGeom>
          <a:solidFill>
            <a:srgbClr val="C4962A"/>
          </a:solidFill>
          <a:ln cap="flat" cmpd="sng" w="12700">
            <a:solidFill>
              <a:srgbClr val="C49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638544" y="2715768"/>
            <a:ext cx="2286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≥ 95% del tiempo en Deep Sleep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345936" y="3721608"/>
            <a:ext cx="201168" cy="201168"/>
          </a:xfrm>
          <a:prstGeom prst="ellipse">
            <a:avLst/>
          </a:prstGeom>
          <a:solidFill>
            <a:srgbClr val="C4962A"/>
          </a:solidFill>
          <a:ln cap="flat" cmpd="sng" w="12700">
            <a:solidFill>
              <a:srgbClr val="C49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638544" y="3675888"/>
            <a:ext cx="2286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Alcance: ~2 km hasta gateway central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2F0E8"/>
                </a:solidFill>
                <a:latin typeface="Calibri"/>
                <a:ea typeface="Calibri"/>
                <a:cs typeface="Calibri"/>
                <a:sym typeface="Calibri"/>
              </a:rPr>
              <a:t>Agro-LoRa  |  ITCR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E8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cap="flat" cmpd="sng" w="12700">
            <a:solidFill>
              <a:srgbClr val="1B3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del Sistema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365760" y="100584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Nivel 1 – Vista General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82880" y="2439670"/>
            <a:ext cx="8778300" cy="36600"/>
          </a:xfrm>
          <a:prstGeom prst="rect">
            <a:avLst/>
          </a:prstGeom>
          <a:solidFill>
            <a:srgbClr val="C8D8C0"/>
          </a:solidFill>
          <a:ln cap="flat" cmpd="sng" w="12700">
            <a:solidFill>
              <a:srgbClr val="C8D8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251460" y="2536698"/>
            <a:ext cx="4572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Nivel 2 – Bloques Funcionales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2F0E8"/>
                </a:solidFill>
                <a:latin typeface="Calibri"/>
                <a:ea typeface="Calibri"/>
                <a:cs typeface="Calibri"/>
                <a:sym typeface="Calibri"/>
              </a:rPr>
              <a:t>Agro-LoRa  |  ITCR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751" y="510200"/>
            <a:ext cx="5863734" cy="2434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7275" y="2402850"/>
            <a:ext cx="5730874" cy="265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E8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cap="flat" cmpd="sng" w="12700">
            <a:solidFill>
              <a:srgbClr val="1B3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Máquina de Estados Finitos (FSM)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2286000" y="5943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ACK recibido → SLEEP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2F0E8"/>
                </a:solidFill>
                <a:latin typeface="Calibri"/>
                <a:ea typeface="Calibri"/>
                <a:cs typeface="Calibri"/>
                <a:sym typeface="Calibri"/>
              </a:rPr>
              <a:t>Agro-LoRa  |  ITCR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8450" y="946150"/>
            <a:ext cx="3666051" cy="3627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E8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cap="flat" cmpd="sng" w="12700">
            <a:solidFill>
              <a:srgbClr val="1B3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Diseño Preliminar de Hardware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320040" y="100584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Componentes Principales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8"/>
          <p:cNvGraphicFramePr/>
          <p:nvPr/>
        </p:nvGraphicFramePr>
        <p:xfrm>
          <a:off x="3200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{E846D40A-4359-47FC-A521-3B06FE5C306C}</a:tableStyleId>
              </a:tblPr>
              <a:tblGrid>
                <a:gridCol w="1371600"/>
                <a:gridCol w="274320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Componente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Función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3A2D"/>
                          </a:solidFill>
                        </a:rPr>
                        <a:t>ESP32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3A2D"/>
                          </a:solidFill>
                        </a:rPr>
                        <a:t>Microcontrolador central (SPI, I2C, ADC)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3A2D"/>
                          </a:solidFill>
                        </a:rPr>
                        <a:t>RFM95W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3A2D"/>
                          </a:solidFill>
                        </a:rPr>
                        <a:t>Transceptor LoRa 915 MHz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3A2D"/>
                          </a:solidFill>
                        </a:rPr>
                        <a:t>Sensor analóg.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3A2D"/>
                          </a:solidFill>
                        </a:rPr>
                        <a:t>Humedad del suelo (ADC)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3A2D"/>
                          </a:solidFill>
                        </a:rPr>
                        <a:t>DHT/SHT (I2C)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3A2D"/>
                          </a:solidFill>
                        </a:rPr>
                        <a:t>Temperatura y humedad ambiental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3A2D"/>
                          </a:solidFill>
                        </a:rPr>
                        <a:t>MOSFET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3A2D"/>
                          </a:solidFill>
                        </a:rPr>
                        <a:t>Conmutación sensores (SENSOR_EN)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3A2D"/>
                          </a:solidFill>
                        </a:rPr>
                        <a:t>LED GPIO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3A2D"/>
                          </a:solidFill>
                        </a:rPr>
                        <a:t>Indicador visual de estado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8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Asignación de Pines (ESP32)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Google Shape;131;p8"/>
          <p:cNvGraphicFramePr/>
          <p:nvPr/>
        </p:nvGraphicFramePr>
        <p:xfrm>
          <a:off x="46634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{E846D40A-4359-47FC-A521-3B06FE5C306C}</a:tableStyleId>
              </a:tblPr>
              <a:tblGrid>
                <a:gridCol w="1325875"/>
                <a:gridCol w="2788925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Pin ESP32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Función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7C59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3A2D"/>
                          </a:solidFill>
                        </a:rPr>
                        <a:t>GPIO34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3A2D"/>
                          </a:solidFill>
                        </a:rPr>
                        <a:t>ADC Humedad suelo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3A2D"/>
                          </a:solidFill>
                        </a:rPr>
                        <a:t>GPIO35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3A2D"/>
                          </a:solidFill>
                        </a:rPr>
                        <a:t>ADC Nivel batería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3A2D"/>
                          </a:solidFill>
                        </a:rPr>
                        <a:t>GPIO21/22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3A2D"/>
                          </a:solidFill>
                        </a:rPr>
                        <a:t>SDA/SCL (I2C)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3A2D"/>
                          </a:solidFill>
                        </a:rPr>
                        <a:t>GPIO23/19/18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3A2D"/>
                          </a:solidFill>
                        </a:rPr>
                        <a:t>MOSI/MISO/SCK (SPI)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3A2D"/>
                          </a:solidFill>
                        </a:rPr>
                        <a:t>GPIO25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3A2D"/>
                          </a:solidFill>
                        </a:rPr>
                        <a:t>CS LoRa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3A2D"/>
                          </a:solidFill>
                        </a:rPr>
                        <a:t>GPIO14/26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3A2D"/>
                          </a:solidFill>
                        </a:rPr>
                        <a:t>RST / DIO0 LoRa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3A2D"/>
                          </a:solidFill>
                        </a:rPr>
                        <a:t>GPIO27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3A2D"/>
                          </a:solidFill>
                        </a:rPr>
                        <a:t>SENSOR_EN (MOSFET)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3A2D"/>
                          </a:solidFill>
                        </a:rPr>
                        <a:t>GPIO33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2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3A2D"/>
                          </a:solidFill>
                        </a:rPr>
                        <a:t>LED estado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2F0E8"/>
                </a:solidFill>
                <a:latin typeface="Calibri"/>
                <a:ea typeface="Calibri"/>
                <a:cs typeface="Calibri"/>
                <a:sym typeface="Calibri"/>
              </a:rPr>
              <a:t>Agro-LoRa  |  ITCR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E8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cap="flat" cmpd="sng" w="12700">
            <a:solidFill>
              <a:srgbClr val="1B3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Eficiencia Energética y Configuración LoRa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274320" y="1051560"/>
            <a:ext cx="411480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274320" y="1051560"/>
            <a:ext cx="4114800" cy="457200"/>
          </a:xfrm>
          <a:prstGeom prst="rect">
            <a:avLst/>
          </a:prstGeom>
          <a:solidFill>
            <a:srgbClr val="C4962A"/>
          </a:solidFill>
          <a:ln cap="flat" cmpd="sng" w="12700">
            <a:solidFill>
              <a:srgbClr val="C49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365760" y="10515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Estrategia Power Gating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02920" y="1673352"/>
            <a:ext cx="256032" cy="256032"/>
          </a:xfrm>
          <a:prstGeom prst="rect">
            <a:avLst/>
          </a:prstGeom>
          <a:solidFill>
            <a:srgbClr val="C4962A"/>
          </a:solidFill>
          <a:ln cap="flat" cmpd="sng" w="12700">
            <a:solidFill>
              <a:srgbClr val="C49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868680" y="164592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MOSFET controlado por señal SENSOR_EN del ESP32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502920" y="2249424"/>
            <a:ext cx="256032" cy="256032"/>
          </a:xfrm>
          <a:prstGeom prst="rect">
            <a:avLst/>
          </a:prstGeom>
          <a:solidFill>
            <a:srgbClr val="C4962A"/>
          </a:solidFill>
          <a:ln cap="flat" cmpd="sng" w="12700">
            <a:solidFill>
              <a:srgbClr val="C49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868680" y="2221992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Sensores completamente desconectados en reposo → sin corrientes de fuga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02920" y="2825496"/>
            <a:ext cx="256032" cy="256032"/>
          </a:xfrm>
          <a:prstGeom prst="rect">
            <a:avLst/>
          </a:prstGeom>
          <a:solidFill>
            <a:srgbClr val="C4962A"/>
          </a:solidFill>
          <a:ln cap="flat" cmpd="sng" w="12700">
            <a:solidFill>
              <a:srgbClr val="C49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868680" y="2798064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Activación solo durante la ventana de medición (~3 s por ciclo)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502920" y="3401568"/>
            <a:ext cx="256032" cy="256032"/>
          </a:xfrm>
          <a:prstGeom prst="rect">
            <a:avLst/>
          </a:prstGeom>
          <a:solidFill>
            <a:srgbClr val="C4962A"/>
          </a:solidFill>
          <a:ln cap="flat" cmpd="sng" w="12700">
            <a:solidFill>
              <a:srgbClr val="C49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868680" y="3374136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Compatible con 3.3 V en todo el sistema (sin level-shifters)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502920" y="3977640"/>
            <a:ext cx="256032" cy="256032"/>
          </a:xfrm>
          <a:prstGeom prst="rect">
            <a:avLst/>
          </a:prstGeom>
          <a:solidFill>
            <a:srgbClr val="C4962A"/>
          </a:solidFill>
          <a:ln cap="flat" cmpd="sng" w="12700">
            <a:solidFill>
              <a:srgbClr val="C49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868680" y="395020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Cumple restricción: ≥ 95% del tiempo en Deep Sleep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4754880" y="1051560"/>
            <a:ext cx="411480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4754880" y="1051560"/>
            <a:ext cx="411480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4846320" y="10515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📡  Parámetros LoRa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4846320" y="1581912"/>
            <a:ext cx="2286000" cy="320040"/>
          </a:xfrm>
          <a:prstGeom prst="rect">
            <a:avLst/>
          </a:prstGeom>
          <a:solidFill>
            <a:srgbClr val="EFF5E8"/>
          </a:solidFill>
          <a:ln cap="flat" cmpd="sng" w="12700">
            <a:solidFill>
              <a:srgbClr val="D0D8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7150608" y="1581912"/>
            <a:ext cx="1554480" cy="32004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4919472" y="1581912"/>
            <a:ext cx="21762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Frecuencia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7150608" y="158191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915 MHz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846320" y="1929384"/>
            <a:ext cx="2286000" cy="320040"/>
          </a:xfrm>
          <a:prstGeom prst="rect">
            <a:avLst/>
          </a:prstGeom>
          <a:solidFill>
            <a:srgbClr val="EFF5E8"/>
          </a:solidFill>
          <a:ln cap="flat" cmpd="sng" w="12700">
            <a:solidFill>
              <a:srgbClr val="D0D8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7150608" y="1929384"/>
            <a:ext cx="1554480" cy="32004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4919472" y="1929384"/>
            <a:ext cx="21762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Spreading Factor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7150608" y="19293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SF10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846320" y="2276856"/>
            <a:ext cx="2286000" cy="320040"/>
          </a:xfrm>
          <a:prstGeom prst="rect">
            <a:avLst/>
          </a:prstGeom>
          <a:solidFill>
            <a:srgbClr val="EFF5E8"/>
          </a:solidFill>
          <a:ln cap="flat" cmpd="sng" w="12700">
            <a:solidFill>
              <a:srgbClr val="D0D8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7150608" y="2276856"/>
            <a:ext cx="1554480" cy="32004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4919472" y="2276856"/>
            <a:ext cx="21762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Bandwidth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7150608" y="2276856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125 kHz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846320" y="2624328"/>
            <a:ext cx="2286000" cy="320040"/>
          </a:xfrm>
          <a:prstGeom prst="rect">
            <a:avLst/>
          </a:prstGeom>
          <a:solidFill>
            <a:srgbClr val="EFF5E8"/>
          </a:solidFill>
          <a:ln cap="flat" cmpd="sng" w="12700">
            <a:solidFill>
              <a:srgbClr val="D0D8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7150608" y="2624328"/>
            <a:ext cx="1554480" cy="32004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4919472" y="2624328"/>
            <a:ext cx="21762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Coding Rate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7150608" y="262432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4/5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846320" y="2971800"/>
            <a:ext cx="2286000" cy="320040"/>
          </a:xfrm>
          <a:prstGeom prst="rect">
            <a:avLst/>
          </a:prstGeom>
          <a:solidFill>
            <a:srgbClr val="EFF5E8"/>
          </a:solidFill>
          <a:ln cap="flat" cmpd="sng" w="12700">
            <a:solidFill>
              <a:srgbClr val="D0D8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7150608" y="2971800"/>
            <a:ext cx="1554480" cy="32004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4919472" y="2971800"/>
            <a:ext cx="21762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Potencia TX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7150608" y="297180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 dBm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4754880" y="3520440"/>
            <a:ext cx="411480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4754880" y="3520440"/>
            <a:ext cx="4114800" cy="411480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4846320" y="35204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🔋  Consumo estimado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846320" y="3986784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2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Deep Sleep: 20 µA  |  Activo: 15 mA  |  TX LoRa: 120 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846320" y="431596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Iprom ≈ 0.495 mA  →  Autonomía ≈ 168 días (batería 2000 mAh)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2F0E8"/>
                </a:solidFill>
                <a:latin typeface="Calibri"/>
                <a:ea typeface="Calibri"/>
                <a:cs typeface="Calibri"/>
                <a:sym typeface="Calibri"/>
              </a:rPr>
              <a:t>Agro-LoRa  |  ITCR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2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457200" y="45720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57200" y="1097280"/>
            <a:ext cx="3657600" cy="36576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457200" y="1298448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1051560" y="1298448"/>
            <a:ext cx="5440680" cy="50292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1143000" y="1298448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2F0E8"/>
                </a:solidFill>
                <a:latin typeface="Calibri"/>
                <a:ea typeface="Calibri"/>
                <a:cs typeface="Calibri"/>
                <a:sym typeface="Calibri"/>
              </a:rPr>
              <a:t>Diseño viable para monitoreo agrícola distribuido con LoRa + ESP32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57200" y="1975104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1051560" y="1975104"/>
            <a:ext cx="5440680" cy="50292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1143000" y="1975104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2F0E8"/>
                </a:solidFill>
                <a:latin typeface="Calibri"/>
                <a:ea typeface="Calibri"/>
                <a:cs typeface="Calibri"/>
                <a:sym typeface="Calibri"/>
              </a:rPr>
              <a:t>SF10 + 17 dBm garantizan enlace robusto a ~2 km sin infraestructura celular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457200" y="265176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051560" y="2651760"/>
            <a:ext cx="5440680" cy="50292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1143000" y="265176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2F0E8"/>
                </a:solidFill>
                <a:latin typeface="Calibri"/>
                <a:ea typeface="Calibri"/>
                <a:cs typeface="Calibri"/>
                <a:sym typeface="Calibri"/>
              </a:rPr>
              <a:t>Power gating + Deep Sleep logran Iprom ≈ 0.495 mA → ~168 días de autonomía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457200" y="3328416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1051560" y="3328416"/>
            <a:ext cx="5440680" cy="50292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1143000" y="3328416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2F0E8"/>
                </a:solidFill>
                <a:latin typeface="Calibri"/>
                <a:ea typeface="Calibri"/>
                <a:cs typeface="Calibri"/>
                <a:sym typeface="Calibri"/>
              </a:rPr>
              <a:t>FSM de 5 estados organiza la lógica de reintentos y evita consumo innecesario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57200" y="4005072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🌱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1051560" y="4005072"/>
            <a:ext cx="5440680" cy="50292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1143000" y="4005072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0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2F0E8"/>
                </a:solidFill>
                <a:latin typeface="Calibri"/>
                <a:ea typeface="Calibri"/>
                <a:cs typeface="Calibri"/>
                <a:sym typeface="Calibri"/>
              </a:rPr>
              <a:t>Arquitectura escalable, de bajo costo y adaptable a otros cultivos y sensores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365760" y="4828032"/>
            <a:ext cx="84124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Agro-LoRa  |  Escuela de Ingeniería Electrónica — ITCR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