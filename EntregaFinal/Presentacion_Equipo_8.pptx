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15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KENDALL — Slide 1 (~30s)
Bienvenidos. Hoy presentamos el Sistema APRS con Trackdirect, una plataforma de monitoreo en tiempo real desarrollada para el curso de Taller Integrador. Mi nombre es Kendall, junto a Alexandra y Francela implementamos esta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KENDALL — Slide 2 (~40s)
El proyecto nació de un caso real: una empresa de control de plagas en Puriscal operando vehículos en zonas sin señal celular. Los sistemas GPS comerciales fallan exactamente ahí. APRS usa radiofrecuencia y es completamente independiente de la infraestructura celular — esa es la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ALEXANDRA — Slide 3 (~50s)
Nuestro sistema tiene cuatro capas. El tracker genera paquetes APRS que aprsc recibe en el puerto 14580. El collector procesa y guarda todo en PostgreSQL. Finalmente Trackdirect visualiza en el mapa. Todo corre dentro de Ubuntu Server en VirtualBox, orquestado con Docker Compose con 6 contenedores.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ALEXANDRA — Slide 4 (~40s)
Usamos NAT con redirección de puertos en VirtualBox. El tráfico APRS entra por el puerto 14580, Trackdirect es accesible en 8081 y Webmin en 10000. Este esquema permite validar el sistema sin exponerlo directamente a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ALEXANDRA — Slide 5 (~45s)
La implementación fue progresiva: primero la VM, luego Webmin, después aprsc, Docker Compose y finalmente la integración con la red APRS-IS global. Tuvimos tres desafíos técnicos importantes: el repositorio de Webmin con problemas de firma GPG, una línea inválida en aprsc.conf y el disco lleno por imágenes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ALEXANDRA — Slide 6 (~35s)
Más allá de instalar el software, nos apropiamos del código. Modificamos index.php para agregar el logo del TEC y traducir la interfaz al español, y main.css para aplicar la paleta institucional. También conectamos el servidor a la red APRS-IS global, logrando ver estaciones de otros grupos en tiempo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FRANCELA — Slide 7 (~60s)
Esta es mi sección. Configuramos 8 monitores en Webmin. Los primeros 4 son los básicos: proceso aprsc, disco, CPU y RAM. Los 4 adicionales los agregamos nosotros: los dos puertos TCP clave, el porcentaje de CPU y un segundo check de proceso. El disco y la CPU están en alerta. Diagnostiqué con iostat que el load average alto es por I/O saturado del disco lleno, no CPU real. La solución es expandir con LVM.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FRANCELA — Slide 8 (~30s)
La validación fue exitosa. Trackdirect responde con HTTP 200, los 6 contenedores están activos, el tracker TI0TEC1-7 es visible en el mapa con filtrado, y estamos conectados a la red APRS-IS global. El flujo completo de extremo a extremo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KENDALL — Slide 9 (~30s)
En conclusión, logramos un sistema APRS funcional de extremo a extremo. La combinación de virtualización, contenedores y monitoreo activo demostró ser robusta para este contexto. El README documenta cada paso para recrear el servidor desde cero.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TEC · ITCR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</a:rPr>
              <a:t>Taller Integrador — Grupo 8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Servidor APRS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CADCFC"/>
                </a:solidFill>
              </a:rPr>
              <a:t>con Trackdirect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4D8"/>
                </a:solidFill>
              </a:rPr>
              <a:t>Implementación de una plataforma de monitoreo APRS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8C4D8"/>
                </a:solidFill>
              </a:rPr>
              <a:t>sobre infraestructura virtualizada con contenedores Docker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Kendall Madrigal · Alexandra Alfaro · Francela Arias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61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Escuela de Ingeniería Electrónica · ITCR ·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2"/>
                </a:solidFill>
              </a:rPr>
              <a:t>¿Por qué APRS?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El problema que resolvemos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540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594360" y="1595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2"/>
                </a:solidFill>
              </a:rPr>
              <a:t>Contexto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Empresa de control de plagas en Puriscal, Costa Rica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3 vehículos operando en zonas rurales con cobertura celular intermitente o nula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Los sistemas GPS/GPRS comerciales dependen de la red celular — fallan exactamente donde más se necesitan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904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92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Pérdida de visibilidad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492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Supervisor sin ubicación de vehículos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791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Riesgo al personal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49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Sin comunicación en emergencias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679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Ineficiencia operativa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492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Asignación de servicios imposible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28571"/>
            </a:avLst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0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2"/>
                </a:solidFill>
              </a:rPr>
              <a:t>✔  Solución: Comunicación por radiofrecuencia con APRS — Independiente de la red celular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2"/>
                </a:solidFill>
              </a:rPr>
              <a:t>Arquitectura del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Cuatro capas funcionales desacopladas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828800" cy="2194560"/>
          </a:xfrm>
          <a:prstGeom prst="roundRect">
            <a:avLst>
              <a:gd name="adj" fmla="val 7500"/>
            </a:avLst>
          </a:prstGeom>
          <a:solidFill>
            <a:srgbClr val="D4184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ADQUISICIÓN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Tracker APRS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TI0TEC1-7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67712" y="2468880"/>
            <a:ext cx="25603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6"/>
          <p:cNvSpPr/>
          <p:nvPr/>
        </p:nvSpPr>
        <p:spPr>
          <a:xfrm>
            <a:off x="2404872" y="23042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0" y="1188720"/>
            <a:ext cx="1828800" cy="219456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258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RECEPCIÓN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0604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APRS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Puerto 14580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16552" y="2468880"/>
            <a:ext cx="25603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1"/>
          <p:cNvSpPr/>
          <p:nvPr/>
        </p:nvSpPr>
        <p:spPr>
          <a:xfrm>
            <a:off x="4553712" y="23042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1828800" cy="219456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3258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PROCESAMIENTO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5488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Collector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65392" y="2468880"/>
            <a:ext cx="256032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6"/>
          <p:cNvSpPr/>
          <p:nvPr/>
        </p:nvSpPr>
        <p:spPr>
          <a:xfrm>
            <a:off x="6702552" y="230428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858000" y="1188720"/>
            <a:ext cx="1828800" cy="2194560"/>
          </a:xfrm>
          <a:prstGeom prst="roundRect">
            <a:avLst>
              <a:gd name="adj" fmla="val 7500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258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VISUALIZACIÓN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90372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Trackdirect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Puerto 8081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2503512" y="1008648"/>
            <a:ext cx="6400800" cy="2468880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s-CR" dirty="0"/>
          </a:p>
        </p:txBody>
      </p:sp>
      <p:sp>
        <p:nvSpPr>
          <p:cNvPr id="27" name="Text 21"/>
          <p:cNvSpPr/>
          <p:nvPr/>
        </p:nvSpPr>
        <p:spPr>
          <a:xfrm>
            <a:off x="2606040" y="7525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293"/>
                </a:solidFill>
              </a:rPr>
              <a:t>VirtualBox — Ubuntu Server 24.04 + Docker Compose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2"/>
                </a:solidFill>
              </a:rPr>
              <a:t>Contenedores Docker Compose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1148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0" name="Text 24"/>
          <p:cNvSpPr/>
          <p:nvPr/>
        </p:nvSpPr>
        <p:spPr>
          <a:xfrm>
            <a:off x="41148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APRSC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87452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2" name="Text 26"/>
          <p:cNvSpPr/>
          <p:nvPr/>
        </p:nvSpPr>
        <p:spPr>
          <a:xfrm>
            <a:off x="187452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Collector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33756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4" name="Text 28"/>
          <p:cNvSpPr/>
          <p:nvPr/>
        </p:nvSpPr>
        <p:spPr>
          <a:xfrm>
            <a:off x="333756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db (PostgreSQL)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80060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6" name="Text 30"/>
          <p:cNvSpPr/>
          <p:nvPr/>
        </p:nvSpPr>
        <p:spPr>
          <a:xfrm>
            <a:off x="480060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Web (Trackdirect)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26364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8" name="Text 32"/>
          <p:cNvSpPr/>
          <p:nvPr/>
        </p:nvSpPr>
        <p:spPr>
          <a:xfrm>
            <a:off x="626364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Reverseproxy</a:t>
            </a:r>
            <a:r>
              <a:rPr lang="en-US" sz="1000" dirty="0">
                <a:solidFill>
                  <a:srgbClr val="FFFFFF"/>
                </a:solidFill>
              </a:rPr>
              <a:t> (Nginx)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726680" y="4069080"/>
            <a:ext cx="13258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0" name="Text 34"/>
          <p:cNvSpPr/>
          <p:nvPr/>
        </p:nvSpPr>
        <p:spPr>
          <a:xfrm>
            <a:off x="7726680" y="4069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Websocket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2"/>
                </a:solidFill>
              </a:rPr>
              <a:t>Arquitectura de 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NAT con Port Forwarding en VirtualBox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1645920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Internet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Red APRS-IS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Tracker TI0TEC1-7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iGates Grupos 1-2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2057400"/>
            <a:ext cx="7315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2971800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7830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184B"/>
                </a:solidFill>
              </a:rPr>
              <a:t>:14580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3840480" cy="3749040"/>
          </a:xfrm>
          <a:prstGeom prst="roundRect">
            <a:avLst>
              <a:gd name="adj" fmla="val 4878"/>
            </a:avLst>
          </a:prstGeom>
          <a:solidFill>
            <a:srgbClr val="F0F7FF"/>
          </a:solidFill>
          <a:ln w="19050">
            <a:solidFill>
              <a:srgbClr val="1C7293"/>
            </a:solidFill>
            <a:prstDash val="dash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32918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</a:rPr>
              <a:t>VirtualBox — Ubuntu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APRSC  :14580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201168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Collector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6060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2004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Trackdirect  :8081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379476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Nginx (proxy)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2057400"/>
            <a:ext cx="73152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4" name="Text 22"/>
          <p:cNvSpPr/>
          <p:nvPr/>
        </p:nvSpPr>
        <p:spPr>
          <a:xfrm>
            <a:off x="7635240" y="1920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63840" y="1188720"/>
            <a:ext cx="1097280" cy="1645920"/>
          </a:xfrm>
          <a:prstGeom prst="roundRect">
            <a:avLst>
              <a:gd name="adj" fmla="val 10000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786384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86384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Navegador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184B"/>
                </a:solidFill>
              </a:rPr>
              <a:t>127.0.0.1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13182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2"/>
                </a:solidFill>
              </a:rPr>
              <a:t>Port Forwarding configurado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898196"/>
              </p:ext>
            </p:extLst>
          </p:nvPr>
        </p:nvGraphicFramePr>
        <p:xfrm>
          <a:off x="136080" y="3497581"/>
          <a:ext cx="2835720" cy="1539240"/>
        </p:xfrm>
        <a:graphic>
          <a:graphicData uri="http://schemas.openxmlformats.org/drawingml/2006/table">
            <a:tbl>
              <a:tblPr/>
              <a:tblGrid>
                <a:gridCol w="113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5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Servicio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Puerto Host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Puerto Guest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Trackdirect (web)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8081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Webmin (admin)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2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APRS iGate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14580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14580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Proceso progresivo y desafíos técnicos resueltos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1554480"/>
            <a:ext cx="5303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VM + Ubuntu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VirtualBox, NAT, 2GB RAM, 20GB disco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12344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2633472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19272" y="1554480"/>
            <a:ext cx="5303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3" name="Shape 11"/>
          <p:cNvSpPr/>
          <p:nvPr/>
        </p:nvSpPr>
        <p:spPr>
          <a:xfrm>
            <a:off x="2130552" y="201168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2203704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03704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Instalación vía .deb — </a:t>
            </a:r>
            <a:r>
              <a:rPr lang="en-US" sz="1050" dirty="0" err="1">
                <a:solidFill>
                  <a:srgbClr val="CADCFC"/>
                </a:solidFill>
              </a:rPr>
              <a:t>solución</a:t>
            </a:r>
            <a:r>
              <a:rPr lang="en-US" sz="1050" dirty="0">
                <a:solidFill>
                  <a:srgbClr val="CADCFC"/>
                </a:solidFill>
              </a:rPr>
              <a:t> de errores GPG en Ubuntu 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52544" y="12344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7" name="Text 15"/>
          <p:cNvSpPr/>
          <p:nvPr/>
        </p:nvSpPr>
        <p:spPr>
          <a:xfrm>
            <a:off x="4352544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38344" y="1554480"/>
            <a:ext cx="5303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Shape 17"/>
          <p:cNvSpPr/>
          <p:nvPr/>
        </p:nvSpPr>
        <p:spPr>
          <a:xfrm>
            <a:off x="3849624" y="201168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3922776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APRSC configurado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22776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aprsc.conf: ServerId TI3AFK, puerto 14580, fix MagicBadness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12344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3" name="Text 21"/>
          <p:cNvSpPr/>
          <p:nvPr/>
        </p:nvSpPr>
        <p:spPr>
          <a:xfrm>
            <a:off x="6071616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57416" y="1554480"/>
            <a:ext cx="53035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5" name="Shape 23"/>
          <p:cNvSpPr/>
          <p:nvPr/>
        </p:nvSpPr>
        <p:spPr>
          <a:xfrm>
            <a:off x="5568696" y="201168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5641848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41848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6 contenedores levantados con un solo comando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90688" y="12344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9" name="Text 27"/>
          <p:cNvSpPr/>
          <p:nvPr/>
        </p:nvSpPr>
        <p:spPr>
          <a:xfrm>
            <a:off x="7790688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87768" y="201168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1" name="Text 29"/>
          <p:cNvSpPr/>
          <p:nvPr/>
        </p:nvSpPr>
        <p:spPr>
          <a:xfrm>
            <a:off x="73609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Integración APRS-IS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Uplink rotate.aprs.net:10152 — estaciones en tiempo real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Desafíos resueltos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⚡ Error GPG en repositorio Webmin → </a:t>
            </a:r>
            <a:r>
              <a:rPr lang="en-US" sz="1200" dirty="0" err="1">
                <a:solidFill>
                  <a:srgbClr val="FFFFFF"/>
                </a:solidFill>
              </a:rPr>
              <a:t>Instalación</a:t>
            </a:r>
            <a:r>
              <a:rPr lang="en-US" sz="1200" dirty="0">
                <a:solidFill>
                  <a:srgbClr val="FFFFFF"/>
                </a:solidFill>
              </a:rPr>
              <a:t> manual .deb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434840"/>
            <a:ext cx="84124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⚡ Línea MagicBadness en aprsc.conf impedía el </a:t>
            </a:r>
            <a:r>
              <a:rPr lang="en-US" sz="1200" dirty="0" err="1">
                <a:solidFill>
                  <a:srgbClr val="FFFFFF"/>
                </a:solidFill>
              </a:rPr>
              <a:t>arranque</a:t>
            </a: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754880"/>
            <a:ext cx="84124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⚡ Disco al 87% por imágenes Docker → </a:t>
            </a:r>
            <a:r>
              <a:rPr lang="en-US" sz="1200" dirty="0" err="1">
                <a:solidFill>
                  <a:srgbClr val="FFFFFF"/>
                </a:solidFill>
              </a:rPr>
              <a:t>Limpieza</a:t>
            </a:r>
            <a:r>
              <a:rPr lang="en-US" sz="1200" dirty="0">
                <a:solidFill>
                  <a:srgbClr val="FFFFFF"/>
                </a:solidFill>
              </a:rPr>
              <a:t> + expansión LVM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2"/>
                </a:solidFill>
              </a:rPr>
              <a:t>Personalización de Trackdirect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Apropiación del código fuente — Grupo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index.php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23444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Branding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Logo TEC en navbar izquierdo (línea 172) + interfaz traducida al español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main.css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242316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1508760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620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Paleta institucional: azul #1A3A52 y rojo #D4184B en navbar e interactivos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8760" y="361188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0" name="Text 18"/>
          <p:cNvSpPr/>
          <p:nvPr/>
        </p:nvSpPr>
        <p:spPr>
          <a:xfrm>
            <a:off x="1508760" y="3611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APRS-IS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5079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Uplink rotate.aprs.net:10152 — estaciones de todos los grupos visibles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828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2371734-4A9D-3178-CC39-4EFE7B85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92123"/>
            <a:ext cx="4364502" cy="38541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2"/>
                </a:solidFill>
              </a:rPr>
              <a:t>Monitoreo con Webmin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monitores activos — </a:t>
            </a:r>
            <a:r>
              <a:rPr lang="en-US" sz="1300" dirty="0" err="1">
                <a:solidFill>
                  <a:srgbClr val="64748B"/>
                </a:solidFill>
              </a:rPr>
              <a:t>Alertas</a:t>
            </a:r>
            <a:r>
              <a:rPr lang="en-US" sz="1300" dirty="0">
                <a:solidFill>
                  <a:srgbClr val="64748B"/>
                </a:solidFill>
              </a:rPr>
              <a:t> automáticas por email cada 5 minutos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627632" cy="347472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987552"/>
            <a:ext cx="1389888" cy="347472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2057400" y="98755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Tipo Webmin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987552"/>
            <a:ext cx="1947672" cy="347472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9" name="Text 7"/>
          <p:cNvSpPr/>
          <p:nvPr/>
        </p:nvSpPr>
        <p:spPr>
          <a:xfrm>
            <a:off x="3520440" y="987552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Alerta si...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987552"/>
            <a:ext cx="2029968" cy="347472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5532120" y="98755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Valor umbral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987552"/>
            <a:ext cx="1143000" cy="347472"/>
          </a:xfrm>
          <a:prstGeom prst="rect">
            <a:avLst/>
          </a:prstGeom>
          <a:solidFill>
            <a:srgbClr val="1A3A5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3" name="Text 11"/>
          <p:cNvSpPr/>
          <p:nvPr/>
        </p:nvSpPr>
        <p:spPr>
          <a:xfrm>
            <a:off x="7635240" y="9875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Estado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335024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411480" y="133502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APRSC activo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133502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Check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335024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Proceso se detiene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05272" y="1399032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5605272" y="13990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0 instancias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13350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✔ OK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682496"/>
            <a:ext cx="8412480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Disco APRS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168249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Disk Space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168249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Espacio libre &lt;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05272" y="1746504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5605272" y="17465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20%  (~3.9 GB)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16824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Alerta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002360"/>
            <a:ext cx="841248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6" name="Text 34"/>
          <p:cNvSpPr/>
          <p:nvPr/>
        </p:nvSpPr>
        <p:spPr>
          <a:xfrm>
            <a:off x="411480" y="200236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RAM libre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03120" y="20023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Free Memory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2002360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RAM libre &lt;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05272" y="2066368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0" name="Text 38"/>
          <p:cNvSpPr/>
          <p:nvPr/>
        </p:nvSpPr>
        <p:spPr>
          <a:xfrm>
            <a:off x="5605272" y="20663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300 MB  (15%)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35240" y="20023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✔ OK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2349832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3" name="Text 41"/>
          <p:cNvSpPr/>
          <p:nvPr/>
        </p:nvSpPr>
        <p:spPr>
          <a:xfrm>
            <a:off x="411480" y="234983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Puerto APRS 14580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03120" y="2349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TCP Connection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160" y="234983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Puerto no responde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05272" y="2413840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7" name="Text 45"/>
          <p:cNvSpPr/>
          <p:nvPr/>
        </p:nvSpPr>
        <p:spPr>
          <a:xfrm>
            <a:off x="5605272" y="241384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Timeout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35240" y="23498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✔ OK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2697304"/>
            <a:ext cx="841248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50" name="Text 48"/>
          <p:cNvSpPr/>
          <p:nvPr/>
        </p:nvSpPr>
        <p:spPr>
          <a:xfrm>
            <a:off x="411480" y="26973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Trackdirect 8081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103120" y="26973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TCP Connection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566160" y="2697304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Puerto no responde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05272" y="2761312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4" name="Text 52"/>
          <p:cNvSpPr/>
          <p:nvPr/>
        </p:nvSpPr>
        <p:spPr>
          <a:xfrm>
            <a:off x="5605272" y="27613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Timeout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35240" y="26973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✔ OK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044776"/>
            <a:ext cx="8412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EF7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57" name="Text 55"/>
          <p:cNvSpPr/>
          <p:nvPr/>
        </p:nvSpPr>
        <p:spPr>
          <a:xfrm>
            <a:off x="411480" y="304477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CPU usage %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103120" y="30447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CPU Usage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66160" y="3044776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Uso de CPU &gt;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05272" y="3108784"/>
            <a:ext cx="1883664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61" name="Text 59"/>
          <p:cNvSpPr/>
          <p:nvPr/>
        </p:nvSpPr>
        <p:spPr>
          <a:xfrm>
            <a:off x="5605272" y="31087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80%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635240" y="3044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✔ OK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3635443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FFFBE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71" name="Text 69"/>
          <p:cNvSpPr/>
          <p:nvPr/>
        </p:nvSpPr>
        <p:spPr>
          <a:xfrm>
            <a:off x="534924" y="3694879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⚠  Disco al 87% — causa raíz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34924" y="3960055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Imágenes Docker: 8.3 GB · Build cache: 5.4 GB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Solución: Docker builder prune + </a:t>
            </a:r>
            <a:r>
              <a:rPr lang="en-US" sz="1000" dirty="0" err="1">
                <a:solidFill>
                  <a:srgbClr val="1E293B"/>
                </a:solidFill>
              </a:rPr>
              <a:t>Expansión</a:t>
            </a:r>
            <a:r>
              <a:rPr lang="en-US" sz="1000" dirty="0">
                <a:solidFill>
                  <a:srgbClr val="1E293B"/>
                </a:solidFill>
              </a:rPr>
              <a:t> LVM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63440" y="4178808"/>
            <a:ext cx="4114800" cy="749808"/>
          </a:xfrm>
          <a:prstGeom prst="roundRect">
            <a:avLst>
              <a:gd name="adj" fmla="val 14634"/>
            </a:avLst>
          </a:prstGeom>
          <a:solidFill>
            <a:srgbClr val="F0FD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74" name="Text 72"/>
          <p:cNvSpPr/>
          <p:nvPr/>
        </p:nvSpPr>
        <p:spPr>
          <a:xfrm>
            <a:off x="4800600" y="42153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✔  Scheduled Monitoring activo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480060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Cada 5 min · fcelavar0802@estudiantec.cr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Alerta: Solo cuando un servicio cae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2"/>
                </a:solidFill>
              </a:rPr>
              <a:t>Validación Operativa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El sistema funciona de extremo a extremo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HTTP 200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Trackdirect responde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curl -I http://127.0.0.1:8081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87168" y="118872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325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87168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6/6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578608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Contenedores activos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32888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docker compose ps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08576" y="118872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325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8576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184B"/>
                </a:solidFill>
              </a:rPr>
              <a:t>TI0TEC1-7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700016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Tracker visible en mapa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54296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Filtrado y confirmado en vivo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29984" y="118872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EF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13258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9984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</a:rPr>
              <a:t>APRS-IS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6821424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Red global conectada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775704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rotate.aprs.net:10152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2"/>
                </a:solidFill>
              </a:rPr>
              <a:t>Flujo de </a:t>
            </a:r>
            <a:r>
              <a:rPr lang="en-US" sz="1300" b="1" dirty="0" err="1">
                <a:solidFill>
                  <a:srgbClr val="1A3A52"/>
                </a:solidFill>
              </a:rPr>
              <a:t>datos</a:t>
            </a:r>
            <a:r>
              <a:rPr lang="en-US" sz="1300" b="1" dirty="0">
                <a:solidFill>
                  <a:srgbClr val="1A3A52"/>
                </a:solidFill>
              </a:rPr>
              <a:t> </a:t>
            </a:r>
            <a:r>
              <a:rPr lang="en-US" sz="1300" b="1" dirty="0" err="1">
                <a:solidFill>
                  <a:srgbClr val="1A3A52"/>
                </a:solidFill>
              </a:rPr>
              <a:t>confirmado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0040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D4184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6" name="Text 20"/>
          <p:cNvSpPr/>
          <p:nvPr/>
        </p:nvSpPr>
        <p:spPr>
          <a:xfrm>
            <a:off x="320040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Tracker APRS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435608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1581912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9" name="Text 23"/>
          <p:cNvSpPr/>
          <p:nvPr/>
        </p:nvSpPr>
        <p:spPr>
          <a:xfrm>
            <a:off x="1581912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Red APRS-IS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697480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2843784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2" name="Text 26"/>
          <p:cNvSpPr/>
          <p:nvPr/>
        </p:nvSpPr>
        <p:spPr>
          <a:xfrm>
            <a:off x="2843784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APRSC :14580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959352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4105656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5" name="Text 29"/>
          <p:cNvSpPr/>
          <p:nvPr/>
        </p:nvSpPr>
        <p:spPr>
          <a:xfrm>
            <a:off x="4105656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Collector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221224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5367528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38" name="Text 32"/>
          <p:cNvSpPr/>
          <p:nvPr/>
        </p:nvSpPr>
        <p:spPr>
          <a:xfrm>
            <a:off x="5367528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6483096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6629400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1" name="Text 35"/>
          <p:cNvSpPr/>
          <p:nvPr/>
        </p:nvSpPr>
        <p:spPr>
          <a:xfrm>
            <a:off x="6629400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Trackdirect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744968" y="40690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7891272" y="3977640"/>
            <a:ext cx="1115568" cy="64008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44" name="Text 38"/>
          <p:cNvSpPr/>
          <p:nvPr/>
        </p:nvSpPr>
        <p:spPr>
          <a:xfrm>
            <a:off x="7891272" y="397764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Navegador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aluacion Economica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457200" y="90000"/>
            <a:ext cx="8229600" cy="3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2800" b="1" dirty="0">
                <a:solidFill>
                  <a:srgbClr val="1A3A52"/>
                </a:solidFill>
                <a:latin typeface="Calibri"/>
              </a:rPr>
              <a:t>Evaluación Económica del Proyecto</a:t>
            </a:r>
          </a:p>
        </p:txBody>
      </p:sp>
      <p:sp>
        <p:nvSpPr>
          <p:cNvPr id="3" name="S"/>
          <p:cNvSpPr/>
          <p:nvPr/>
        </p:nvSpPr>
        <p:spPr>
          <a:xfrm>
            <a:off x="457200" y="475000"/>
            <a:ext cx="8229600" cy="19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1000" dirty="0">
                <a:solidFill>
                  <a:srgbClr val="64748B"/>
                </a:solidFill>
                <a:latin typeface="Calibri"/>
              </a:rPr>
              <a:t>Freelance: 3 personas × 40 h × ₡20.000/h  ·  TC: ₡460/USD (BCCR 08/06/2026)  ·  Software open source sin costo</a:t>
            </a:r>
          </a:p>
        </p:txBody>
      </p:sp>
      <p:sp>
        <p:nvSpPr>
          <p:cNvPr id="4" name="HBG"/>
          <p:cNvSpPr/>
          <p:nvPr/>
        </p:nvSpPr>
        <p:spPr>
          <a:xfrm>
            <a:off x="457200" y="680000"/>
            <a:ext cx="8229600" cy="255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5" name="H5"/>
          <p:cNvSpPr/>
          <p:nvPr/>
        </p:nvSpPr>
        <p:spPr>
          <a:xfrm>
            <a:off x="457200" y="680000"/>
            <a:ext cx="5200000" cy="25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8000" rIns="91440" bIns="38000" rtlCol="0" anchor="ctr"/>
          <a:lstStyle/>
          <a:p>
            <a:pPr marL="0" indent="0">
              <a:buNone/>
            </a:pPr>
            <a:r>
              <a:rPr lang="es-CR" sz="1000" b="1" dirty="0">
                <a:solidFill>
                  <a:srgbClr val="FFFFFF"/>
                </a:solidFill>
                <a:latin typeface="Calibri"/>
              </a:rPr>
              <a:t>Concepto / Rubro</a:t>
            </a:r>
          </a:p>
        </p:txBody>
      </p:sp>
      <p:sp>
        <p:nvSpPr>
          <p:cNvPr id="6" name="H6"/>
          <p:cNvSpPr/>
          <p:nvPr/>
        </p:nvSpPr>
        <p:spPr>
          <a:xfrm>
            <a:off x="5657200" y="680000"/>
            <a:ext cx="1600000" cy="25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8000" rIns="91440" bIns="38000" rtlCol="0" anchor="ctr"/>
          <a:lstStyle/>
          <a:p>
            <a:pPr marL="0" indent="0" algn="r">
              <a:buNone/>
            </a:pPr>
            <a:r>
              <a:rPr lang="es-CR" sz="1000" b="1" dirty="0">
                <a:solidFill>
                  <a:srgbClr val="FFFFFF"/>
                </a:solidFill>
                <a:latin typeface="Calibri"/>
              </a:rPr>
              <a:t>CRC (₡)</a:t>
            </a:r>
          </a:p>
        </p:txBody>
      </p:sp>
      <p:sp>
        <p:nvSpPr>
          <p:cNvPr id="7" name="H7"/>
          <p:cNvSpPr/>
          <p:nvPr/>
        </p:nvSpPr>
        <p:spPr>
          <a:xfrm>
            <a:off x="7257200" y="680000"/>
            <a:ext cx="1429600" cy="25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8000" rIns="91440" bIns="38000" rtlCol="0" anchor="ctr"/>
          <a:lstStyle/>
          <a:p>
            <a:pPr marL="0" indent="0" algn="r">
              <a:buNone/>
            </a:pPr>
            <a:r>
              <a:rPr lang="es-CR" sz="1000" b="1" dirty="0">
                <a:solidFill>
                  <a:srgbClr val="FFFFFF"/>
                </a:solidFill>
                <a:latin typeface="Calibri"/>
              </a:rPr>
              <a:t>USD ($)</a:t>
            </a:r>
          </a:p>
        </p:txBody>
      </p:sp>
      <p:sp>
        <p:nvSpPr>
          <p:cNvPr id="8" name="S8"/>
          <p:cNvSpPr/>
          <p:nvPr/>
        </p:nvSpPr>
        <p:spPr>
          <a:xfrm>
            <a:off x="457200" y="935000"/>
            <a:ext cx="8229600" cy="205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txBody>
          <a:bodyPr wrap="square" lIns="91440" tIns="25000" rIns="91440" bIns="25000" rtlCol="0" anchor="ctr"/>
          <a:lstStyle/>
          <a:p>
            <a:pPr marL="0" indent="0">
              <a:buNone/>
            </a:pPr>
            <a:r>
              <a:rPr lang="es-CR" sz="880" b="1" i="1" dirty="0">
                <a:solidFill>
                  <a:srgbClr val="1A3A52"/>
                </a:solidFill>
                <a:latin typeface="Calibri"/>
              </a:rPr>
              <a:t>■  Inversión Inicial — Hardware</a:t>
            </a:r>
          </a:p>
        </p:txBody>
      </p:sp>
      <p:sp>
        <p:nvSpPr>
          <p:cNvPr id="9" name="R9"/>
          <p:cNvSpPr/>
          <p:nvPr/>
        </p:nvSpPr>
        <p:spPr>
          <a:xfrm>
            <a:off x="457200" y="114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TinyTrak3Plus + GPS (×3)</a:t>
            </a:r>
          </a:p>
        </p:txBody>
      </p:sp>
      <p:sp>
        <p:nvSpPr>
          <p:cNvPr id="10" name="R10"/>
          <p:cNvSpPr/>
          <p:nvPr/>
        </p:nvSpPr>
        <p:spPr>
          <a:xfrm>
            <a:off x="5657200" y="114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₡173.880</a:t>
            </a:r>
          </a:p>
        </p:txBody>
      </p:sp>
      <p:sp>
        <p:nvSpPr>
          <p:cNvPr id="11" name="R11"/>
          <p:cNvSpPr/>
          <p:nvPr/>
        </p:nvSpPr>
        <p:spPr>
          <a:xfrm>
            <a:off x="7257200" y="114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$378</a:t>
            </a:r>
          </a:p>
        </p:txBody>
      </p:sp>
      <p:sp>
        <p:nvSpPr>
          <p:cNvPr id="12" name="R12"/>
          <p:cNvSpPr/>
          <p:nvPr/>
        </p:nvSpPr>
        <p:spPr>
          <a:xfrm>
            <a:off x="457200" y="1325000"/>
            <a:ext cx="52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Radio VHF 2m + cable + interfaz (×3)</a:t>
            </a:r>
          </a:p>
        </p:txBody>
      </p:sp>
      <p:sp>
        <p:nvSpPr>
          <p:cNvPr id="13" name="R13"/>
          <p:cNvSpPr/>
          <p:nvPr/>
        </p:nvSpPr>
        <p:spPr>
          <a:xfrm>
            <a:off x="5657200" y="1325000"/>
            <a:ext cx="16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₡138.000</a:t>
            </a:r>
          </a:p>
        </p:txBody>
      </p:sp>
      <p:sp>
        <p:nvSpPr>
          <p:cNvPr id="14" name="R14"/>
          <p:cNvSpPr/>
          <p:nvPr/>
        </p:nvSpPr>
        <p:spPr>
          <a:xfrm>
            <a:off x="7257200" y="1325000"/>
            <a:ext cx="14296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$300</a:t>
            </a:r>
          </a:p>
        </p:txBody>
      </p:sp>
      <p:sp>
        <p:nvSpPr>
          <p:cNvPr id="15" name="R15"/>
          <p:cNvSpPr/>
          <p:nvPr/>
        </p:nvSpPr>
        <p:spPr>
          <a:xfrm>
            <a:off x="457200" y="151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Antenas VHF para vehículo (×3)</a:t>
            </a:r>
          </a:p>
        </p:txBody>
      </p:sp>
      <p:sp>
        <p:nvSpPr>
          <p:cNvPr id="16" name="R16"/>
          <p:cNvSpPr/>
          <p:nvPr/>
        </p:nvSpPr>
        <p:spPr>
          <a:xfrm>
            <a:off x="5657200" y="151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₡27.600</a:t>
            </a:r>
          </a:p>
        </p:txBody>
      </p:sp>
      <p:sp>
        <p:nvSpPr>
          <p:cNvPr id="17" name="R17"/>
          <p:cNvSpPr/>
          <p:nvPr/>
        </p:nvSpPr>
        <p:spPr>
          <a:xfrm>
            <a:off x="7257200" y="151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$60</a:t>
            </a:r>
          </a:p>
        </p:txBody>
      </p:sp>
      <p:sp>
        <p:nvSpPr>
          <p:cNvPr id="18" name="R18"/>
          <p:cNvSpPr/>
          <p:nvPr/>
        </p:nvSpPr>
        <p:spPr>
          <a:xfrm>
            <a:off x="457200" y="1695000"/>
            <a:ext cx="52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Flete + aranceles + IVA (×3)</a:t>
            </a:r>
          </a:p>
        </p:txBody>
      </p:sp>
      <p:sp>
        <p:nvSpPr>
          <p:cNvPr id="19" name="R19"/>
          <p:cNvSpPr/>
          <p:nvPr/>
        </p:nvSpPr>
        <p:spPr>
          <a:xfrm>
            <a:off x="5657200" y="1695000"/>
            <a:ext cx="16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₡62.100</a:t>
            </a:r>
          </a:p>
        </p:txBody>
      </p:sp>
      <p:sp>
        <p:nvSpPr>
          <p:cNvPr id="20" name="R20"/>
          <p:cNvSpPr/>
          <p:nvPr/>
        </p:nvSpPr>
        <p:spPr>
          <a:xfrm>
            <a:off x="7257200" y="1695000"/>
            <a:ext cx="14296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$135</a:t>
            </a:r>
          </a:p>
        </p:txBody>
      </p:sp>
      <p:sp>
        <p:nvSpPr>
          <p:cNvPr id="21" name="R21"/>
          <p:cNvSpPr/>
          <p:nvPr/>
        </p:nvSpPr>
        <p:spPr>
          <a:xfrm>
            <a:off x="457200" y="188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Servidor físico on-premise + cables y materiales</a:t>
            </a:r>
          </a:p>
        </p:txBody>
      </p:sp>
      <p:sp>
        <p:nvSpPr>
          <p:cNvPr id="22" name="R22"/>
          <p:cNvSpPr/>
          <p:nvPr/>
        </p:nvSpPr>
        <p:spPr>
          <a:xfrm>
            <a:off x="5657200" y="188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₡488.800</a:t>
            </a:r>
          </a:p>
        </p:txBody>
      </p:sp>
      <p:sp>
        <p:nvSpPr>
          <p:cNvPr id="23" name="R23"/>
          <p:cNvSpPr/>
          <p:nvPr/>
        </p:nvSpPr>
        <p:spPr>
          <a:xfrm>
            <a:off x="7257200" y="188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$1.063</a:t>
            </a:r>
          </a:p>
        </p:txBody>
      </p:sp>
      <p:sp>
        <p:nvSpPr>
          <p:cNvPr id="24" name="S24"/>
          <p:cNvSpPr/>
          <p:nvPr/>
        </p:nvSpPr>
        <p:spPr>
          <a:xfrm>
            <a:off x="457200" y="2065000"/>
            <a:ext cx="8229600" cy="205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txBody>
          <a:bodyPr wrap="square" lIns="91440" tIns="25000" rIns="91440" bIns="25000" rtlCol="0" anchor="ctr"/>
          <a:lstStyle/>
          <a:p>
            <a:pPr marL="0" indent="0">
              <a:buNone/>
            </a:pPr>
            <a:r>
              <a:rPr lang="es-CR" sz="880" b="1" i="1" dirty="0">
                <a:solidFill>
                  <a:srgbClr val="1A3A52"/>
                </a:solidFill>
                <a:latin typeface="Calibri"/>
              </a:rPr>
              <a:t>■  Inversión Inicial — Regulatorio y Servicios Profesionales</a:t>
            </a:r>
          </a:p>
        </p:txBody>
      </p:sp>
      <p:sp>
        <p:nvSpPr>
          <p:cNvPr id="25" name="R25"/>
          <p:cNvSpPr/>
          <p:nvPr/>
        </p:nvSpPr>
        <p:spPr>
          <a:xfrm>
            <a:off x="457200" y="227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Licencia radioaficionado (costo de oportunidad) + Canon SUTEL año 1</a:t>
            </a:r>
          </a:p>
        </p:txBody>
      </p:sp>
      <p:sp>
        <p:nvSpPr>
          <p:cNvPr id="26" name="R26"/>
          <p:cNvSpPr/>
          <p:nvPr/>
        </p:nvSpPr>
        <p:spPr>
          <a:xfrm>
            <a:off x="5657200" y="227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₡66.200</a:t>
            </a:r>
          </a:p>
        </p:txBody>
      </p:sp>
      <p:sp>
        <p:nvSpPr>
          <p:cNvPr id="27" name="R27"/>
          <p:cNvSpPr/>
          <p:nvPr/>
        </p:nvSpPr>
        <p:spPr>
          <a:xfrm>
            <a:off x="7257200" y="227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$144</a:t>
            </a:r>
          </a:p>
        </p:txBody>
      </p:sp>
      <p:sp>
        <p:nvSpPr>
          <p:cNvPr id="28" name="R28"/>
          <p:cNvSpPr/>
          <p:nvPr/>
        </p:nvSpPr>
        <p:spPr>
          <a:xfrm>
            <a:off x="457200" y="2455000"/>
            <a:ext cx="52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Honorarios freelance: 3 personas × 40 h × ₡20.000/h</a:t>
            </a:r>
          </a:p>
        </p:txBody>
      </p:sp>
      <p:sp>
        <p:nvSpPr>
          <p:cNvPr id="29" name="R29"/>
          <p:cNvSpPr/>
          <p:nvPr/>
        </p:nvSpPr>
        <p:spPr>
          <a:xfrm>
            <a:off x="5657200" y="2455000"/>
            <a:ext cx="16000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₡2.400.000</a:t>
            </a:r>
          </a:p>
        </p:txBody>
      </p:sp>
      <p:sp>
        <p:nvSpPr>
          <p:cNvPr id="30" name="R30"/>
          <p:cNvSpPr/>
          <p:nvPr/>
        </p:nvSpPr>
        <p:spPr>
          <a:xfrm>
            <a:off x="7257200" y="2455000"/>
            <a:ext cx="1429600" cy="185000"/>
          </a:xfrm>
          <a:prstGeom prst="rect">
            <a:avLst/>
          </a:prstGeom>
          <a:solidFill>
            <a:srgbClr val="F5FB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$5.217</a:t>
            </a:r>
          </a:p>
        </p:txBody>
      </p:sp>
      <p:sp>
        <p:nvSpPr>
          <p:cNvPr id="31" name="R31"/>
          <p:cNvSpPr/>
          <p:nvPr/>
        </p:nvSpPr>
        <p:spPr>
          <a:xfrm>
            <a:off x="457200" y="264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Pruebas de campo + reserva técnica 10% hw</a:t>
            </a:r>
          </a:p>
        </p:txBody>
      </p:sp>
      <p:sp>
        <p:nvSpPr>
          <p:cNvPr id="32" name="R32"/>
          <p:cNvSpPr/>
          <p:nvPr/>
        </p:nvSpPr>
        <p:spPr>
          <a:xfrm>
            <a:off x="5657200" y="264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₡87.260</a:t>
            </a:r>
          </a:p>
        </p:txBody>
      </p:sp>
      <p:sp>
        <p:nvSpPr>
          <p:cNvPr id="33" name="R33"/>
          <p:cNvSpPr/>
          <p:nvPr/>
        </p:nvSpPr>
        <p:spPr>
          <a:xfrm>
            <a:off x="7257200" y="264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$190</a:t>
            </a:r>
          </a:p>
        </p:txBody>
      </p:sp>
      <p:sp>
        <p:nvSpPr>
          <p:cNvPr id="34" name="T34"/>
          <p:cNvSpPr/>
          <p:nvPr/>
        </p:nvSpPr>
        <p:spPr>
          <a:xfrm>
            <a:off x="457200" y="2825000"/>
            <a:ext cx="5200000" cy="185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TOTAL INVERSIÓN INICIAL</a:t>
            </a:r>
          </a:p>
        </p:txBody>
      </p:sp>
      <p:sp>
        <p:nvSpPr>
          <p:cNvPr id="35" name="T35"/>
          <p:cNvSpPr/>
          <p:nvPr/>
        </p:nvSpPr>
        <p:spPr>
          <a:xfrm>
            <a:off x="5657200" y="2825000"/>
            <a:ext cx="1600000" cy="185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₡3.443.840</a:t>
            </a:r>
          </a:p>
        </p:txBody>
      </p:sp>
      <p:sp>
        <p:nvSpPr>
          <p:cNvPr id="36" name="T36"/>
          <p:cNvSpPr/>
          <p:nvPr/>
        </p:nvSpPr>
        <p:spPr>
          <a:xfrm>
            <a:off x="7257200" y="2825000"/>
            <a:ext cx="1429600" cy="185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$7.487</a:t>
            </a:r>
          </a:p>
        </p:txBody>
      </p:sp>
      <p:sp>
        <p:nvSpPr>
          <p:cNvPr id="37" name="S37"/>
          <p:cNvSpPr/>
          <p:nvPr/>
        </p:nvSpPr>
        <p:spPr>
          <a:xfrm>
            <a:off x="457200" y="3010000"/>
            <a:ext cx="8229600" cy="20500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txBody>
          <a:bodyPr wrap="square" lIns="91440" tIns="25000" rIns="91440" bIns="25000" rtlCol="0" anchor="ctr"/>
          <a:lstStyle/>
          <a:p>
            <a:pPr marL="0" indent="0">
              <a:buNone/>
            </a:pPr>
            <a:r>
              <a:rPr lang="es-CR" sz="880" b="1" i="1" dirty="0">
                <a:solidFill>
                  <a:srgbClr val="92600D"/>
                </a:solidFill>
                <a:latin typeface="Calibri"/>
              </a:rPr>
              <a:t>■  Costos Operativos Anuales</a:t>
            </a:r>
          </a:p>
        </p:txBody>
      </p:sp>
      <p:sp>
        <p:nvSpPr>
          <p:cNvPr id="38" name="R38"/>
          <p:cNvSpPr/>
          <p:nvPr/>
        </p:nvSpPr>
        <p:spPr>
          <a:xfrm>
            <a:off x="457200" y="3215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Mantenimiento y soporte técnico</a:t>
            </a:r>
          </a:p>
        </p:txBody>
      </p:sp>
      <p:sp>
        <p:nvSpPr>
          <p:cNvPr id="39" name="R39"/>
          <p:cNvSpPr/>
          <p:nvPr/>
        </p:nvSpPr>
        <p:spPr>
          <a:xfrm>
            <a:off x="5657200" y="3215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₡300.000</a:t>
            </a:r>
          </a:p>
        </p:txBody>
      </p:sp>
      <p:sp>
        <p:nvSpPr>
          <p:cNvPr id="40" name="R40"/>
          <p:cNvSpPr/>
          <p:nvPr/>
        </p:nvSpPr>
        <p:spPr>
          <a:xfrm>
            <a:off x="7257200" y="3215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$652</a:t>
            </a:r>
          </a:p>
        </p:txBody>
      </p:sp>
      <p:sp>
        <p:nvSpPr>
          <p:cNvPr id="41" name="R41"/>
          <p:cNvSpPr/>
          <p:nvPr/>
        </p:nvSpPr>
        <p:spPr>
          <a:xfrm>
            <a:off x="457200" y="3400000"/>
            <a:ext cx="5200000" cy="185000"/>
          </a:xfrm>
          <a:prstGeom prst="rect">
            <a:avLst/>
          </a:prstGeom>
          <a:solidFill>
            <a:srgbClr val="FFFD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Electricidad + canon espectro + baterías + actualizaciones</a:t>
            </a:r>
          </a:p>
        </p:txBody>
      </p:sp>
      <p:sp>
        <p:nvSpPr>
          <p:cNvPr id="42" name="R42"/>
          <p:cNvSpPr/>
          <p:nvPr/>
        </p:nvSpPr>
        <p:spPr>
          <a:xfrm>
            <a:off x="5657200" y="3400000"/>
            <a:ext cx="1600000" cy="185000"/>
          </a:xfrm>
          <a:prstGeom prst="rect">
            <a:avLst/>
          </a:prstGeom>
          <a:solidFill>
            <a:srgbClr val="FFFD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₡79.200</a:t>
            </a:r>
          </a:p>
        </p:txBody>
      </p:sp>
      <p:sp>
        <p:nvSpPr>
          <p:cNvPr id="43" name="R43"/>
          <p:cNvSpPr/>
          <p:nvPr/>
        </p:nvSpPr>
        <p:spPr>
          <a:xfrm>
            <a:off x="7257200" y="3400000"/>
            <a:ext cx="1429600" cy="185000"/>
          </a:xfrm>
          <a:prstGeom prst="rect">
            <a:avLst/>
          </a:prstGeom>
          <a:solidFill>
            <a:srgbClr val="FFFD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$172</a:t>
            </a:r>
          </a:p>
        </p:txBody>
      </p:sp>
      <p:sp>
        <p:nvSpPr>
          <p:cNvPr id="44" name="R44"/>
          <p:cNvSpPr/>
          <p:nvPr/>
        </p:nvSpPr>
        <p:spPr>
          <a:xfrm>
            <a:off x="457200" y="3585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Conectividad a Internet</a:t>
            </a:r>
          </a:p>
        </p:txBody>
      </p:sp>
      <p:sp>
        <p:nvSpPr>
          <p:cNvPr id="45" name="R45"/>
          <p:cNvSpPr/>
          <p:nvPr/>
        </p:nvSpPr>
        <p:spPr>
          <a:xfrm>
            <a:off x="5657200" y="3585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₡180.000</a:t>
            </a:r>
          </a:p>
        </p:txBody>
      </p:sp>
      <p:sp>
        <p:nvSpPr>
          <p:cNvPr id="46" name="R46"/>
          <p:cNvSpPr/>
          <p:nvPr/>
        </p:nvSpPr>
        <p:spPr>
          <a:xfrm>
            <a:off x="7257200" y="3585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$391</a:t>
            </a:r>
          </a:p>
        </p:txBody>
      </p:sp>
      <p:sp>
        <p:nvSpPr>
          <p:cNvPr id="50" name="T50"/>
          <p:cNvSpPr/>
          <p:nvPr/>
        </p:nvSpPr>
        <p:spPr>
          <a:xfrm>
            <a:off x="457200" y="3770000"/>
            <a:ext cx="5200000" cy="185000"/>
          </a:xfrm>
          <a:prstGeom prst="rect">
            <a:avLst/>
          </a:prstGeom>
          <a:solidFill>
            <a:srgbClr val="D4184B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TOTAL OPERATIVO ANUAL</a:t>
            </a:r>
          </a:p>
        </p:txBody>
      </p:sp>
      <p:sp>
        <p:nvSpPr>
          <p:cNvPr id="51" name="T51"/>
          <p:cNvSpPr/>
          <p:nvPr/>
        </p:nvSpPr>
        <p:spPr>
          <a:xfrm>
            <a:off x="5657200" y="3770000"/>
            <a:ext cx="1600000" cy="185000"/>
          </a:xfrm>
          <a:prstGeom prst="rect">
            <a:avLst/>
          </a:prstGeom>
          <a:solidFill>
            <a:srgbClr val="D4184B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₡609.200</a:t>
            </a:r>
          </a:p>
        </p:txBody>
      </p:sp>
      <p:sp>
        <p:nvSpPr>
          <p:cNvPr id="52" name="T52"/>
          <p:cNvSpPr/>
          <p:nvPr/>
        </p:nvSpPr>
        <p:spPr>
          <a:xfrm>
            <a:off x="7257200" y="3770000"/>
            <a:ext cx="1429600" cy="185000"/>
          </a:xfrm>
          <a:prstGeom prst="rect">
            <a:avLst/>
          </a:prstGeom>
          <a:solidFill>
            <a:srgbClr val="D4184B"/>
          </a:solidFill>
          <a:ln>
            <a:noFill/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930" b="1" dirty="0">
                <a:solidFill>
                  <a:srgbClr val="FFFFFF"/>
                </a:solidFill>
                <a:latin typeface="Calibri"/>
              </a:rPr>
              <a:t>$1.324</a:t>
            </a:r>
          </a:p>
        </p:txBody>
      </p:sp>
      <p:sp>
        <p:nvSpPr>
          <p:cNvPr id="53" name="S53"/>
          <p:cNvSpPr/>
          <p:nvPr/>
        </p:nvSpPr>
        <p:spPr>
          <a:xfrm>
            <a:off x="457200" y="3955000"/>
            <a:ext cx="8229600" cy="205000"/>
          </a:xfrm>
          <a:prstGeom prst="rect">
            <a:avLst/>
          </a:prstGeom>
          <a:solidFill>
            <a:srgbClr val="E0F0E0"/>
          </a:solidFill>
          <a:ln>
            <a:noFill/>
          </a:ln>
        </p:spPr>
        <p:txBody>
          <a:bodyPr wrap="square" lIns="91440" tIns="25000" rIns="91440" bIns="25000" rtlCol="0" anchor="ctr"/>
          <a:lstStyle/>
          <a:p>
            <a:pPr marL="0" indent="0">
              <a:buNone/>
            </a:pPr>
            <a:r>
              <a:rPr lang="es-CR" sz="880" b="1" i="1" dirty="0">
                <a:solidFill>
                  <a:srgbClr val="1A5C1A"/>
                </a:solidFill>
                <a:latin typeface="Calibri"/>
              </a:rPr>
              <a:t>■  Proyección Acumulada</a:t>
            </a:r>
          </a:p>
        </p:txBody>
      </p:sp>
      <p:sp>
        <p:nvSpPr>
          <p:cNvPr id="54" name="R54"/>
          <p:cNvSpPr/>
          <p:nvPr/>
        </p:nvSpPr>
        <p:spPr>
          <a:xfrm>
            <a:off x="457200" y="416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1 año: Inv. inicial + 1 año operativo</a:t>
            </a:r>
          </a:p>
        </p:txBody>
      </p:sp>
      <p:sp>
        <p:nvSpPr>
          <p:cNvPr id="55" name="R55"/>
          <p:cNvSpPr/>
          <p:nvPr/>
        </p:nvSpPr>
        <p:spPr>
          <a:xfrm>
            <a:off x="5657200" y="416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₡4.053.040</a:t>
            </a:r>
          </a:p>
        </p:txBody>
      </p:sp>
      <p:sp>
        <p:nvSpPr>
          <p:cNvPr id="56" name="R56"/>
          <p:cNvSpPr/>
          <p:nvPr/>
        </p:nvSpPr>
        <p:spPr>
          <a:xfrm>
            <a:off x="7257200" y="416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$8.811</a:t>
            </a:r>
          </a:p>
        </p:txBody>
      </p:sp>
      <p:sp>
        <p:nvSpPr>
          <p:cNvPr id="57" name="R57"/>
          <p:cNvSpPr/>
          <p:nvPr/>
        </p:nvSpPr>
        <p:spPr>
          <a:xfrm>
            <a:off x="457200" y="4345000"/>
            <a:ext cx="5200000" cy="185000"/>
          </a:xfrm>
          <a:prstGeom prst="rect">
            <a:avLst/>
          </a:prstGeom>
          <a:solidFill>
            <a:srgbClr val="F0FA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3 años: Inv. inicial + 3 años operativo</a:t>
            </a:r>
          </a:p>
        </p:txBody>
      </p:sp>
      <p:sp>
        <p:nvSpPr>
          <p:cNvPr id="58" name="R58"/>
          <p:cNvSpPr/>
          <p:nvPr/>
        </p:nvSpPr>
        <p:spPr>
          <a:xfrm>
            <a:off x="5657200" y="4345000"/>
            <a:ext cx="1600000" cy="185000"/>
          </a:xfrm>
          <a:prstGeom prst="rect">
            <a:avLst/>
          </a:prstGeom>
          <a:solidFill>
            <a:srgbClr val="F0FA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₡5.271.440</a:t>
            </a:r>
          </a:p>
        </p:txBody>
      </p:sp>
      <p:sp>
        <p:nvSpPr>
          <p:cNvPr id="59" name="R59"/>
          <p:cNvSpPr/>
          <p:nvPr/>
        </p:nvSpPr>
        <p:spPr>
          <a:xfrm>
            <a:off x="7257200" y="4345000"/>
            <a:ext cx="1429600" cy="185000"/>
          </a:xfrm>
          <a:prstGeom prst="rect">
            <a:avLst/>
          </a:prstGeom>
          <a:solidFill>
            <a:srgbClr val="F0FAF0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$11.460</a:t>
            </a:r>
          </a:p>
        </p:txBody>
      </p:sp>
      <p:sp>
        <p:nvSpPr>
          <p:cNvPr id="60" name="R60"/>
          <p:cNvSpPr/>
          <p:nvPr/>
        </p:nvSpPr>
        <p:spPr>
          <a:xfrm>
            <a:off x="457200" y="4530000"/>
            <a:ext cx="52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5 años: Inv. inicial + 5 años operativo</a:t>
            </a:r>
          </a:p>
        </p:txBody>
      </p:sp>
      <p:sp>
        <p:nvSpPr>
          <p:cNvPr id="61" name="R61"/>
          <p:cNvSpPr/>
          <p:nvPr/>
        </p:nvSpPr>
        <p:spPr>
          <a:xfrm>
            <a:off x="5657200" y="4530000"/>
            <a:ext cx="16000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₡6.489.840</a:t>
            </a:r>
          </a:p>
        </p:txBody>
      </p:sp>
      <p:sp>
        <p:nvSpPr>
          <p:cNvPr id="62" name="R62"/>
          <p:cNvSpPr/>
          <p:nvPr/>
        </p:nvSpPr>
        <p:spPr>
          <a:xfrm>
            <a:off x="7257200" y="4530000"/>
            <a:ext cx="1429600" cy="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E8F0"/>
            </a:solidFill>
          </a:ln>
        </p:spPr>
        <p:txBody>
          <a:bodyPr wrap="square" lIns="91440" tIns="20000" rIns="91440" bIns="20000" rtlCol="0" anchor="ctr"/>
          <a:lstStyle/>
          <a:p>
            <a:pPr marL="0" indent="0" algn="r">
              <a:buNone/>
            </a:pPr>
            <a:r>
              <a:rPr lang="es-CR" sz="860" dirty="0">
                <a:solidFill>
                  <a:srgbClr val="334155"/>
                </a:solidFill>
                <a:latin typeface="Calibri"/>
              </a:rPr>
              <a:t>$14.108</a:t>
            </a:r>
          </a:p>
        </p:txBody>
      </p:sp>
      <p:sp>
        <p:nvSpPr>
          <p:cNvPr id="63" name="Note"/>
          <p:cNvSpPr/>
          <p:nvPr/>
        </p:nvSpPr>
        <p:spPr>
          <a:xfrm>
            <a:off x="457200" y="4730000"/>
            <a:ext cx="82296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R" sz="730" i="1" dirty="0">
                <a:solidFill>
                  <a:srgbClr val="94A3B8"/>
                </a:solidFill>
                <a:latin typeface="Calibri"/>
              </a:rPr>
              <a:t>* Todo el software (Ubuntu Server, Docker Compose, PostgreSQL, Trackdirect) es open source sin costo de licencia. Canon espectro estimado según TI0RC/SUTEL.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7899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Sistema funcional de extremo a extremo: recepción, procesamiento, almacenamiento y visualización APRS en tiempo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3911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Ubuntu Server + Webmin + Docker Compose demostró ser una combinación robusta, reproducible y escalable para fines académicos.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9992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La arquitectura virtualizada permitió construir un entorno controlado y replicable con un solo archivo OVA.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5935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El monitoreo activo con Webmin y el README paso a paso garantizan la mantenibilidad del servidor a largo plazo.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1549</Words>
  <Application>Microsoft Office PowerPoint</Application>
  <PresentationFormat>On-screen Show (16:9)</PresentationFormat>
  <Paragraphs>269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APRS con Trackdirect — Defensa Final</dc:title>
  <dc:subject>PptxGenJS Presentation</dc:subject>
  <dc:creator>PptxGenJS</dc:creator>
  <cp:lastModifiedBy>ARIAS VARGAS FRANCELA</cp:lastModifiedBy>
  <cp:revision>3</cp:revision>
  <dcterms:created xsi:type="dcterms:W3CDTF">2026-06-09T04:28:32Z</dcterms:created>
  <dcterms:modified xsi:type="dcterms:W3CDTF">2026-06-09T15:29:35Z</dcterms:modified>
</cp:coreProperties>
</file>